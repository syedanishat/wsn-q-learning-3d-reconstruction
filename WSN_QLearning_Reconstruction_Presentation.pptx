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242C"/>
                </a:solidFill>
                <a:latin typeface="Arial"/>
              </a:defRPr>
            </a:pPr>
            <a:r>
              <a:rPr sz="1100" b="0" i="0" u="none" strike="noStrike">
                <a:solidFill>
                  <a:srgbClr val="16242C"/>
                </a:solidFill>
                <a:latin typeface="Arial"/>
              </a:rPr>
              <a:t>Residual Energy Variation (Fig. 1)</a:t>
            </a:r>
          </a:p>
        </c:rich>
      </c:tx>
      <c:layout/>
      <c:overlay val="0"/>
    </c:title>
    <c:autoTitleDeleted val="0"/>
    <c:plotArea>
      <c:layout/>
      <c:lineChart>
        <c:varyColors val="0"/>
        <c:ser>
          <c:idx val="0"/>
          <c:order val="0"/>
          <c:tx>
            <c:strRef>
              <c:f>Sheet1!$B$1</c:f>
              <c:strCache>
                <c:ptCount val="1"/>
                <c:pt idx="0">
                  <c:v>Total Residual Energy (J)</c:v>
                </c:pt>
              </c:strCache>
            </c:strRef>
          </c:tx>
          <c:spPr>
            <a:solidFill>
              <a:srgbClr val="065A82"/>
            </a:solidFill>
            <a:ln w="28575" cap="flat">
              <a:solidFill>
                <a:srgbClr val="065A82"/>
              </a:solidFill>
              <a:prstDash val="solid"/>
              <a:round/>
            </a:ln>
            <a:effectLst/>
          </c:spPr>
          <c:invertIfNegative val="0"/>
          <c:dLbls>
            <c:numFmt formatCode="#,##0" sourceLinked="0"/>
            <c:txPr>
              <a:bodyPr/>
              <a:lstStyle/>
              <a:p>
                <a:pPr>
                  <a:defRPr b="0" i="0" strike="noStrike" sz="1200" u="none">
                    <a:solidFill>
                      <a:srgbClr val="5C7684"/>
                    </a:solidFill>
                    <a:latin typeface="Arial"/>
                  </a:defRPr>
                </a:pPr>
              </a:p>
            </c:txPr>
            <c:showLegendKey val="0"/>
            <c:showVal val="0"/>
            <c:showCatName val="0"/>
            <c:showSerName val="0"/>
            <c:showPercent val="0"/>
            <c:showBubbleSize val="0"/>
            <c:showLeaderLines val="0"/>
          </c:dLbls>
          <c:marker>
            <c:symbol val="none"/>
            <c:size val="6"/>
            <c:spPr>
              <a:solidFill>
                <a:srgbClr val="065A82"/>
              </a:solidFill>
              <a:ln w="9525" cap="flat">
                <a:solidFill>
                  <a:srgbClr val="065A82"/>
                </a:solidFill>
                <a:prstDash val="solid"/>
                <a:round/>
              </a:ln>
              <a:effectLst/>
            </c:spPr>
          </c:marker>
          <c:cat>
            <c:multiLvlStrRef>
              <c:f>Sheet1!$A$2:$A$6</c:f>
              <c:multiLvlStrCache>
                <c:ptCount val="5"/>
                <c:lvl>
                  <c:pt idx="0">
                    <c:v>0</c:v>
                  </c:pt>
                  <c:pt idx="1">
                    <c:v>2000</c:v>
                  </c:pt>
                  <c:pt idx="2">
                    <c:v>4000</c:v>
                  </c:pt>
                  <c:pt idx="3">
                    <c:v>6000</c:v>
                  </c:pt>
                  <c:pt idx="4">
                    <c:v>9189</c:v>
                  </c:pt>
                </c:lvl>
              </c:multiLvlStrCache>
            </c:multiLvlStrRef>
          </c:cat>
          <c:val>
            <c:numRef>
              <c:f>Sheet1!$B$2:$B$6</c:f>
              <c:numCache>
                <c:formatCode>General</c:formatCode>
                <c:ptCount val="5"/>
                <c:pt idx="0">
                  <c:v>22</c:v>
                </c:pt>
                <c:pt idx="1">
                  <c:v>20.55</c:v>
                </c:pt>
                <c:pt idx="2">
                  <c:v>19.1</c:v>
                </c:pt>
                <c:pt idx="3">
                  <c:v>18.5</c:v>
                </c:pt>
                <c:pt idx="4">
                  <c:v>17.92</c:v>
                </c:pt>
              </c:numCache>
            </c:numRef>
          </c:val>
          <c:smooth val="0"/>
        </c:ser>
        <c:dLbls>
          <c:numFmt formatCode="#,##0" sourceLinked="0"/>
          <c:txPr>
            <a:bodyPr/>
            <a:lstStyle/>
            <a:p>
              <a:pPr>
                <a:defRPr b="0" i="0" strike="noStrike" sz="1200" u="none">
                  <a:solidFill>
                    <a:srgbClr val="5C7684"/>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000000"/>
                    </a:solidFill>
                    <a:latin typeface="Arial"/>
                  </a:defRPr>
                </a:pPr>
                <a:r>
                  <a:rPr sz="900" b="0" i="0" u="none" strike="noStrike">
                    <a:solidFill>
                      <a:srgbClr val="000000"/>
                    </a:solidFill>
                    <a:latin typeface="Arial"/>
                  </a:rPr>
                  <a:t>Round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4E9"/>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Energy (J)</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242C"/>
                </a:solidFill>
                <a:latin typeface="Arial"/>
              </a:defRPr>
            </a:pPr>
            <a:r>
              <a:rPr sz="1100" b="0" i="0" u="none" strike="noStrike">
                <a:solidFill>
                  <a:srgbClr val="16242C"/>
                </a:solidFill>
                <a:latin typeface="Arial"/>
              </a:rPr>
              <a:t>Completed Transmission Rounds</a:t>
            </a:r>
          </a:p>
        </c:rich>
      </c:tx>
      <c:layout/>
      <c:overlay val="0"/>
    </c:title>
    <c:autoTitleDeleted val="0"/>
    <c:plotArea>
      <c:layout/>
      <c:barChart>
        <c:barDir val="col"/>
        <c:grouping val="clustered"/>
        <c:varyColors val="0"/>
        <c:ser>
          <c:idx val="0"/>
          <c:order val="0"/>
          <c:tx>
            <c:strRef>
              <c:f>Sheet1!$B$1</c:f>
              <c:strCache>
                <c:ptCount val="1"/>
                <c:pt idx="0">
                  <c:v>Rounds Completed</c:v>
                </c:pt>
              </c:strCache>
            </c:strRef>
          </c:tx>
          <c:spPr>
            <a:solidFill>
              <a:srgbClr val="1C7293"/>
            </a:solidFill>
            <a:effectLst/>
          </c:spPr>
          <c:invertIfNegative val="0"/>
          <c:dLbls>
            <c:numFmt formatCode="#,##0" sourceLinked="0"/>
            <c:txPr>
              <a:bodyPr/>
              <a:lstStyle/>
              <a:p>
                <a:pPr>
                  <a:defRPr b="0" i="0" strike="noStrike" sz="1000" u="none">
                    <a:solidFill>
                      <a:srgbClr val="16242C"/>
                    </a:solidFill>
                    <a:latin typeface="Arial"/>
                  </a:defRPr>
                </a:pPr>
              </a:p>
            </c:txPr>
            <c:showLegendKey val="0"/>
            <c:showVal val="1"/>
            <c:showCatName val="0"/>
            <c:showSerName val="0"/>
            <c:showPercent val="0"/>
            <c:showBubbleSize val="0"/>
            <c:showLeaderLines val="0"/>
          </c:dLbls>
          <c:cat>
            <c:multiLvlStrRef>
              <c:f>Sheet1!$A$2:$A$4</c:f>
              <c:multiLvlStrCache>
                <c:ptCount val="3"/>
                <c:lvl>
                  <c:pt idx="0">
                    <c:v>Published
Q-learning</c:v>
                  </c:pt>
                  <c:pt idx="1">
                    <c:v>Published
Dijkstra</c:v>
                  </c:pt>
                  <c:pt idx="2">
                    <c:v>Reconstructed
Q-learning</c:v>
                  </c:pt>
                </c:lvl>
              </c:multiLvlStrCache>
            </c:multiLvlStrRef>
          </c:cat>
          <c:val>
            <c:numRef>
              <c:f>Sheet1!$B$2:$B$4</c:f>
              <c:numCache>
                <c:formatCode>General</c:formatCode>
                <c:ptCount val="3"/>
                <c:pt idx="0">
                  <c:v>6260</c:v>
                </c:pt>
                <c:pt idx="1">
                  <c:v>2737</c:v>
                </c:pt>
                <c:pt idx="2">
                  <c:v>9189</c:v>
                </c:pt>
              </c:numCache>
            </c:numRef>
          </c:val>
        </c:ser>
        <c:dLbls>
          <c:numFmt formatCode="#,##0" sourceLinked="0"/>
          <c:txPr>
            <a:bodyPr/>
            <a:lstStyle/>
            <a:p>
              <a:pPr>
                <a:defRPr b="0" i="0" strike="noStrike" sz="1000" u="none">
                  <a:solidFill>
                    <a:srgbClr val="1624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4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242C"/>
                </a:solidFill>
                <a:latin typeface="Arial"/>
              </a:defRPr>
            </a:pPr>
            <a:r>
              <a:rPr sz="1100" b="0" i="0" u="none" strike="noStrike">
                <a:solidFill>
                  <a:srgbClr val="16242C"/>
                </a:solidFill>
                <a:latin typeface="Arial"/>
              </a:rPr>
              <a:t>Total Conveyed Data (Kbits)</a:t>
            </a:r>
          </a:p>
        </c:rich>
      </c:tx>
      <c:layout/>
      <c:overlay val="0"/>
    </c:title>
    <c:autoTitleDeleted val="0"/>
    <c:plotArea>
      <c:layout/>
      <c:barChart>
        <c:barDir val="col"/>
        <c:grouping val="clustered"/>
        <c:varyColors val="0"/>
        <c:ser>
          <c:idx val="0"/>
          <c:order val="0"/>
          <c:tx>
            <c:strRef>
              <c:f>Sheet1!$B$1</c:f>
              <c:strCache>
                <c:ptCount val="1"/>
                <c:pt idx="0">
                  <c:v>Data (Kbits)</c:v>
                </c:pt>
              </c:strCache>
            </c:strRef>
          </c:tx>
          <c:spPr>
            <a:solidFill>
              <a:srgbClr val="E8A13A"/>
            </a:solidFill>
            <a:effectLst/>
          </c:spPr>
          <c:invertIfNegative val="0"/>
          <c:dLbls>
            <c:numFmt formatCode="#,##0" sourceLinked="0"/>
            <c:txPr>
              <a:bodyPr/>
              <a:lstStyle/>
              <a:p>
                <a:pPr>
                  <a:defRPr b="0" i="0" strike="noStrike" sz="1000" u="none">
                    <a:solidFill>
                      <a:srgbClr val="16242C"/>
                    </a:solidFill>
                    <a:latin typeface="Arial"/>
                  </a:defRPr>
                </a:pPr>
              </a:p>
            </c:txPr>
            <c:showLegendKey val="0"/>
            <c:showVal val="1"/>
            <c:showCatName val="0"/>
            <c:showSerName val="0"/>
            <c:showPercent val="0"/>
            <c:showBubbleSize val="0"/>
            <c:showLeaderLines val="0"/>
          </c:dLbls>
          <c:cat>
            <c:multiLvlStrRef>
              <c:f>Sheet1!$A$2:$A$4</c:f>
              <c:multiLvlStrCache>
                <c:ptCount val="3"/>
                <c:lvl>
                  <c:pt idx="0">
                    <c:v>Published
Q-learning</c:v>
                  </c:pt>
                  <c:pt idx="1">
                    <c:v>Published
Dijkstra</c:v>
                  </c:pt>
                  <c:pt idx="2">
                    <c:v>Reconstructed
Q-learning</c:v>
                  </c:pt>
                </c:lvl>
              </c:multiLvlStrCache>
            </c:multiLvlStrRef>
          </c:cat>
          <c:val>
            <c:numRef>
              <c:f>Sheet1!$B$2:$B$4</c:f>
              <c:numCache>
                <c:formatCode>General</c:formatCode>
                <c:ptCount val="3"/>
                <c:pt idx="0">
                  <c:v>3205.12</c:v>
                </c:pt>
                <c:pt idx="1">
                  <c:v>1401.34</c:v>
                </c:pt>
                <c:pt idx="2">
                  <c:v>4704.77</c:v>
                </c:pt>
              </c:numCache>
            </c:numRef>
          </c:val>
        </c:ser>
        <c:dLbls>
          <c:numFmt formatCode="#,##0" sourceLinked="0"/>
          <c:txPr>
            <a:bodyPr/>
            <a:lstStyle/>
            <a:p>
              <a:pPr>
                <a:defRPr b="0" i="0" strike="noStrike" sz="1000" u="none">
                  <a:solidFill>
                    <a:srgbClr val="1624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4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6242C"/>
                </a:solidFill>
                <a:latin typeface="Arial"/>
              </a:defRPr>
            </a:pPr>
            <a:r>
              <a:rPr sz="1050" b="0" i="0" u="none" strike="noStrike">
                <a:solidFill>
                  <a:srgbClr val="16242C"/>
                </a:solidFill>
                <a:latin typeface="Arial"/>
              </a:rPr>
              <a:t>D₀ vs Completed Rounds</a:t>
            </a:r>
          </a:p>
        </c:rich>
      </c:tx>
      <c:layout/>
      <c:overlay val="0"/>
    </c:title>
    <c:autoTitleDeleted val="0"/>
    <c:plotArea>
      <c:layout/>
      <c:lineChart>
        <c:varyColors val="0"/>
        <c:ser>
          <c:idx val="0"/>
          <c:order val="0"/>
          <c:tx>
            <c:strRef>
              <c:f>Sheet1!$B$1</c:f>
              <c:strCache>
                <c:ptCount val="1"/>
                <c:pt idx="0">
                  <c:v>Rounds</c:v>
                </c:pt>
              </c:strCache>
            </c:strRef>
          </c:tx>
          <c:spPr>
            <a:solidFill>
              <a:srgbClr val="065A82"/>
            </a:solidFill>
            <a:ln w="31750" cap="flat">
              <a:solidFill>
                <a:srgbClr val="065A82"/>
              </a:solidFill>
              <a:prstDash val="solid"/>
              <a:round/>
            </a:ln>
            <a:effectLst/>
          </c:spPr>
          <c:invertIfNegative val="0"/>
          <c:dLbls>
            <c:numFmt formatCode="#,##0" sourceLinked="0"/>
            <c:txPr>
              <a:bodyPr/>
              <a:lstStyle/>
              <a:p>
                <a:pPr>
                  <a:defRPr b="0" i="0" strike="noStrike" sz="850" u="none">
                    <a:solidFill>
                      <a:srgbClr val="5C7684"/>
                    </a:solidFill>
                    <a:latin typeface="Arial"/>
                  </a:defRPr>
                </a:pPr>
              </a:p>
            </c:txPr>
            <c:dLblPos val="t"/>
            <c:showLegendKey val="0"/>
            <c:showVal val="1"/>
            <c:showCatName val="0"/>
            <c:showSerName val="0"/>
            <c:showPercent val="0"/>
            <c:showBubbleSize val="0"/>
            <c:showLeaderLines val="0"/>
          </c:dLbls>
          <c:marker>
            <c:symbol val="circle"/>
            <c:size val="6"/>
            <c:spPr>
              <a:solidFill>
                <a:srgbClr val="065A82"/>
              </a:solidFill>
              <a:ln w="9525" cap="flat">
                <a:solidFill>
                  <a:srgbClr val="065A82"/>
                </a:solidFill>
                <a:prstDash val="solid"/>
                <a:round/>
              </a:ln>
              <a:effectLst/>
            </c:spPr>
          </c:marker>
          <c:cat>
            <c:multiLvlStrRef>
              <c:f>Sheet1!$A$2:$A$6</c:f>
              <c:multiLvlStrCache>
                <c:ptCount val="5"/>
                <c:lvl>
                  <c:pt idx="0">
                    <c:v>2</c:v>
                  </c:pt>
                  <c:pt idx="1">
                    <c:v>3</c:v>
                  </c:pt>
                  <c:pt idx="2">
                    <c:v>4</c:v>
                  </c:pt>
                  <c:pt idx="3">
                    <c:v>5</c:v>
                  </c:pt>
                  <c:pt idx="4">
                    <c:v>6</c:v>
                  </c:pt>
                </c:lvl>
              </c:multiLvlStrCache>
            </c:multiLvlStrRef>
          </c:cat>
          <c:val>
            <c:numRef>
              <c:f>Sheet1!$B$2:$B$6</c:f>
              <c:numCache>
                <c:formatCode>General</c:formatCode>
                <c:ptCount val="5"/>
                <c:pt idx="0">
                  <c:v>9088</c:v>
                </c:pt>
                <c:pt idx="1">
                  <c:v>9059</c:v>
                </c:pt>
                <c:pt idx="2">
                  <c:v>9189</c:v>
                </c:pt>
                <c:pt idx="3">
                  <c:v>9512</c:v>
                </c:pt>
                <c:pt idx="4">
                  <c:v>10218</c:v>
                </c:pt>
              </c:numCache>
            </c:numRef>
          </c:val>
          <c:smooth val="0"/>
        </c:ser>
        <c:dLbls>
          <c:numFmt formatCode="#,##0" sourceLinked="0"/>
          <c:txPr>
            <a:bodyPr/>
            <a:lstStyle/>
            <a:p>
              <a:pPr>
                <a:defRPr b="0" i="0" strike="noStrike" sz="850" u="none">
                  <a:solidFill>
                    <a:srgbClr val="5C7684"/>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50" b="0" i="0" u="none" strike="noStrike">
                    <a:solidFill>
                      <a:srgbClr val="000000"/>
                    </a:solidFill>
                    <a:latin typeface="Arial"/>
                  </a:defRPr>
                </a:pPr>
                <a:r>
                  <a:rPr sz="850" b="0" i="0" u="none" strike="noStrike">
                    <a:solidFill>
                      <a:srgbClr val="000000"/>
                    </a:solidFill>
                    <a:latin typeface="Arial"/>
                  </a:rPr>
                  <a:t>D₀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4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6242C"/>
                </a:solidFill>
                <a:latin typeface="Arial"/>
              </a:defRPr>
            </a:pPr>
            <a:r>
              <a:rPr sz="1050" b="0" i="0" u="none" strike="noStrike">
                <a:solidFill>
                  <a:srgbClr val="16242C"/>
                </a:solidFill>
                <a:latin typeface="Arial"/>
              </a:rPr>
              <a:t>D₀ vs Conveyed Data (Kbits)</a:t>
            </a:r>
          </a:p>
        </c:rich>
      </c:tx>
      <c:layout/>
      <c:overlay val="0"/>
    </c:title>
    <c:autoTitleDeleted val="0"/>
    <c:plotArea>
      <c:layout/>
      <c:lineChart>
        <c:varyColors val="0"/>
        <c:ser>
          <c:idx val="0"/>
          <c:order val="0"/>
          <c:tx>
            <c:strRef>
              <c:f>Sheet1!$B$1</c:f>
              <c:strCache>
                <c:ptCount val="1"/>
                <c:pt idx="0">
                  <c:v>Data (Kbits)</c:v>
                </c:pt>
              </c:strCache>
            </c:strRef>
          </c:tx>
          <c:spPr>
            <a:solidFill>
              <a:srgbClr val="E8A13A"/>
            </a:solidFill>
            <a:ln w="31750" cap="flat">
              <a:solidFill>
                <a:srgbClr val="E8A13A"/>
              </a:solidFill>
              <a:prstDash val="solid"/>
              <a:round/>
            </a:ln>
            <a:effectLst/>
          </c:spPr>
          <c:invertIfNegative val="0"/>
          <c:dLbls>
            <c:numFmt formatCode="#,##0" sourceLinked="0"/>
            <c:txPr>
              <a:bodyPr/>
              <a:lstStyle/>
              <a:p>
                <a:pPr>
                  <a:defRPr b="0" i="0" strike="noStrike" sz="850" u="none">
                    <a:solidFill>
                      <a:srgbClr val="5C7684"/>
                    </a:solidFill>
                    <a:latin typeface="Arial"/>
                  </a:defRPr>
                </a:pPr>
              </a:p>
            </c:txPr>
            <c:dLblPos val="t"/>
            <c:showLegendKey val="0"/>
            <c:showVal val="1"/>
            <c:showCatName val="0"/>
            <c:showSerName val="0"/>
            <c:showPercent val="0"/>
            <c:showBubbleSize val="0"/>
            <c:showLeaderLines val="0"/>
          </c:dLbls>
          <c:marker>
            <c:symbol val="circle"/>
            <c:size val="6"/>
            <c:spPr>
              <a:solidFill>
                <a:srgbClr val="E8A13A"/>
              </a:solidFill>
              <a:ln w="9525" cap="flat">
                <a:solidFill>
                  <a:srgbClr val="E8A13A"/>
                </a:solidFill>
                <a:prstDash val="solid"/>
                <a:round/>
              </a:ln>
              <a:effectLst/>
            </c:spPr>
          </c:marker>
          <c:cat>
            <c:multiLvlStrRef>
              <c:f>Sheet1!$A$2:$A$6</c:f>
              <c:multiLvlStrCache>
                <c:ptCount val="5"/>
                <c:lvl>
                  <c:pt idx="0">
                    <c:v>2</c:v>
                  </c:pt>
                  <c:pt idx="1">
                    <c:v>3</c:v>
                  </c:pt>
                  <c:pt idx="2">
                    <c:v>4</c:v>
                  </c:pt>
                  <c:pt idx="3">
                    <c:v>5</c:v>
                  </c:pt>
                  <c:pt idx="4">
                    <c:v>6</c:v>
                  </c:pt>
                </c:lvl>
              </c:multiLvlStrCache>
            </c:multiLvlStrRef>
          </c:cat>
          <c:val>
            <c:numRef>
              <c:f>Sheet1!$B$2:$B$6</c:f>
              <c:numCache>
                <c:formatCode>General</c:formatCode>
                <c:ptCount val="5"/>
                <c:pt idx="0">
                  <c:v>4653.056</c:v>
                </c:pt>
                <c:pt idx="1">
                  <c:v>4638.208</c:v>
                </c:pt>
                <c:pt idx="2">
                  <c:v>4704.768</c:v>
                </c:pt>
                <c:pt idx="3">
                  <c:v>4870.144</c:v>
                </c:pt>
                <c:pt idx="4">
                  <c:v>5231.616</c:v>
                </c:pt>
              </c:numCache>
            </c:numRef>
          </c:val>
          <c:smooth val="0"/>
        </c:ser>
        <c:dLbls>
          <c:numFmt formatCode="#,##0" sourceLinked="0"/>
          <c:txPr>
            <a:bodyPr/>
            <a:lstStyle/>
            <a:p>
              <a:pPr>
                <a:defRPr b="0" i="0" strike="noStrike" sz="850" u="none">
                  <a:solidFill>
                    <a:srgbClr val="5C7684"/>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50" b="0" i="0" u="none" strike="noStrike">
                    <a:solidFill>
                      <a:srgbClr val="000000"/>
                    </a:solidFill>
                    <a:latin typeface="Arial"/>
                  </a:defRPr>
                </a:pPr>
                <a:r>
                  <a:rPr sz="850" b="0" i="0" u="none" strike="noStrike">
                    <a:solidFill>
                      <a:srgbClr val="000000"/>
                    </a:solidFill>
                    <a:latin typeface="Arial"/>
                  </a:rPr>
                  <a:t>D₀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4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Syeda Nishat, and this is my M.Tech Reinforcement Learning project: a methodology-faithful reconstruction and D0 sensitivity analysis of a Q-learning-based routing scheme for 3D wireless sensor networks, based on the 2023 IJRER paper by Jrhilifa, Ouadi, and Jilbab. I want to be upfront from this first slide: this is a reconstruction of the published methodology, not an exact numerical replication, because the original topology and some simulation parameters were not available to me. Over the next few slides I will walk through the problem, the reconstructed methodology, my experimental results, how they compare with the published values, and an extension I added — a D0 sensitivity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up the problem. Wireless sensor networks are made of many small, battery-powered nodes that must relay sensed data back to a sink, often over multiple hops. Because these nodes usually cannot be recharged easily, energy-aware routing is critical — the network 'lifetime' depends on how evenly and efficiently energy is spent. This is where reinforcement learning, specifically Q-learning, becomes attractive: it lets each routing decision adapt based on residual energy, distance, and hop count, learned online from reward signals, rather than relying on a fixed shortest-path rule like Dijkstra's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paper I am reconstructing: Jrhilifa, Ouadi and Jilbab, published in the International Journal of Renewable Energy Research in 2023. Their study proposes a Q-learning-based routing scheme for a smart-home WSN and benchmarks it against Dijkstra's shortest-path algorithm. My objective is not to copy their numbers, but to reconstruct their reward function, energy model, and propagation model faithfully, implement it end to end, and validate it experimentally. I want to stress the framing in the amber box: because I did not have access to the original node coordinates or full simulator configuration, this is a methodology-faithful reconstruction — not a claim of exact numerical replication. I will repeat this distinction throughout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ten-step reconstructed methodology, from network setup all the way to executing a transmission round. First, we build the 45-node 3D network and its communication links, then generate candidate routing paths for each sensor. The highlighted blue boxes are the reinforcement-learning core: for every round, candidate routes are evaluated by Q-learning, checked for energy feasibility, and the Q-value is updated. A route is then selected, energy is deducted safely, and the process repeats for the next transmission round. This loop continues until the network can no longer find a feasible complete path — which, as I'll show later, is exactly how my experiment terminated.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exact system parameters used in the reconstruction, taken directly from Table I of my paper. Green italic labels mark values taken directly from the reference paper or the standard radio energy model — 45 total nodes, 44 sensor nodes plus one sink, a 16 by 13 by 2.5 metre deployment volume, 0.5 joules of initial energy per node, and 512-bit packets. Amber italic labels mark values I had to assume because they weren't available in the original paper — the coordinate seed of 42, a 7-metre communication range, and a D0 propagation threshold of 4 metres. I want to be transparent about this distinction because it directly explains why my numerical results differ from the published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reinforcement-learning core and the radio energy model. On the left is the state-action-reward loop: at each decision point, the agent observes the network state, selects a candidate next-hop action, and receives a reward. On the right, the Q-value update rule blends the old Q-value with alpha times the sum of reward and path quality — path quality captures residual energy and remaining hop count of candidate nodes. The reward itself is the candidate node's residual energy divided by the propagation-weighted distance and hop count. For energy, I use the standard first-order radio model: transmit energy has an electronics term plus an amplifier term that scales with distance raised to the power beta, and beta itself switches between 2 and 4 depending on whether the link distance is below or above the threshold D0 — this is the free-space versus multipath transition, and it's exactly the parameter I later study in the sensitivity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from methodology to a working system, I implemented everything in Python using NetworkX for the graph structure, with a dedicated Q-learning routing engine, the radio energy model, and a route-feasibility checker. Everything ran in an executed Jupyter notebook, version-controlled in a GitHub repository for reproducibility. Critically, I didn't just trust the code — I independently hand-calculated transmit and receive energy for a six-link path and compared it against the implementation's output. As shown in the green box, every value matched to the displayed precision. I also ran a controlled test where a node was deliberately given too little energy to confirm that infeasible routes are correctly rejected before they can be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results of the full 45-node experiment. The network completed 9,189 successful transmission rounds, delivering 4,704.77 Kbits of data while consuming just over 4 joules of total network energy, leaving about 17.92 joules of residual energy. All 44 sensor nodes were still alive at the end. I want to be precise about what 9,189 rounds actually means: this is not a first-node-death lifetime metric. The experiment stopped because the complete-path feasibility check could no longer find any usable route — some nodes, like S3, S2, and S1, were down to extremely small residual energy, on the order of tens of microjoules, but technically still alive. So the correct interpretation is that the network reached the point where its precomputed routing table ran out of energy-feasible complete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and chart place my reconstructed result side by side with the two published numbers: the published Q-learning result of 6,260 rounds and 3,205.12 Kbits, and the published Dijkstra baseline of 2,737 rounds and 1,401.34 Kbits. My reconstruction completed 9,189 rounds and delivered 4,704.77 Kbits, shown in amber to distinguish it clearly from the published teal values. I want to be very careful about how I frame this comparison, though. Yes, my reconstruction completed more rounds and delivered more data than the published Q-learning result — but I am explicitly not claiming this as an improvement over the original method. As explained on Slide 5, my topology, coordinate seed, communication range, and D0 value were all reconstructed or assumed, so the two experiments are not run under identical conditions. The correct interpretation is that the reconstructed methodology behaves consistently with the reference method's qualitative behavior — Q-learning outperforming Dijkstra — even though the absolute numbers differ because of these necessary reconstruction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reproducing the frozen baseline, I extended the study by sweeping the propagation-distance threshold D0 from 2 to 6 metres, each run starting fresh from the same 0.5 joule per-node energy. The table and the two line charts show that D0 materially affects network lifetime, but not in a simple monotonic way: D0 equals 3 metres actually gives slightly fewer rounds than D0 equals 2 metres, while D0 equals 5 and 6 metres give progressively longer lifetimes, up to 10,218 rounds and 5,231.6 Kbits at D0 equals 6. This matters because D0 was one of my assumed parameters — the original paper doesn't state it explicitly — so this sensitivity study characterizes exactly how much that one assumption can shift the results, which is valuable context for interpreting the Slide 9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reconstruction tangible for a live audience, I also built a Streamlit dashboard as a visual demonstration layer on top of the notebook experiments. It renders the full 3D WSN, lets you pick a source sensor node, and visualizes the resulting route along with its metrics. It also surfaces the final 45-node experiment results and the D0 sensitivity results interactively, so a reviewer can explore the numbers rather than just read a static table. One important caveat I want to state clearly: S1's route in the dashboard uses the actual recorded, audited route from my experiments, while S2 through S4 are feasible routing demonstrations on the reconstructed network — they are shown to illustrate how the routing behaves, but they are not claimed to be recorded Q-learning experimental selections from the full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set out to reconstruct the methodology of the Jrhilifa et al. Q-learning WSN routing paper, and I believe I've demonstrated that. I rebuilt the reward function, radio energy model, propagation model, and Q-value update; ran a full 45-node, 3D experiment that completed 9,189 rounds and delivered 4,704.77 Kbits while keeping all 44 nodes alive; incorporated careful energy-feasibility checks; compared my results transparently against the published Q-learning and Dijkstra numbers without overclaiming; extended the study with a D0 sensitivity analysis; and packaged everything in a reproducible notebook, GitHub repository, and an interactive Streamlit demo. For future work, I'd like to reconstruct the original topology more closely if that data becomes available, test additional network configurations, extend the parameter sensitivity analysis, and validate across multiple random seeds to check robustness.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4"/>
        </a:solidFill>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5875">
            <a:solidFill>
              <a:srgbClr val="3E6E8C"/>
            </a:solidFill>
            <a:prstDash val="solid"/>
          </a:ln>
        </p:spPr>
      </p:sp>
      <p:sp>
        <p:nvSpPr>
          <p:cNvPr id="3" name="Shape 1"/>
          <p:cNvSpPr/>
          <p:nvPr/>
        </p:nvSpPr>
        <p:spPr>
          <a:xfrm>
            <a:off x="9692640" y="822960"/>
            <a:ext cx="-365760" cy="914400"/>
          </a:xfrm>
          <a:prstGeom prst="line">
            <a:avLst/>
          </a:prstGeom>
          <a:noFill/>
          <a:ln w="15875">
            <a:solidFill>
              <a:srgbClr val="3E6E8C"/>
            </a:solidFill>
            <a:prstDash val="solid"/>
          </a:ln>
        </p:spPr>
      </p:sp>
      <p:sp>
        <p:nvSpPr>
          <p:cNvPr id="4" name="Shape 2"/>
          <p:cNvSpPr/>
          <p:nvPr/>
        </p:nvSpPr>
        <p:spPr>
          <a:xfrm>
            <a:off x="10607040" y="1371600"/>
            <a:ext cx="640080" cy="731520"/>
          </a:xfrm>
          <a:prstGeom prst="line">
            <a:avLst/>
          </a:prstGeom>
          <a:noFill/>
          <a:ln w="15875">
            <a:solidFill>
              <a:srgbClr val="3E6E8C"/>
            </a:solidFill>
            <a:prstDash val="solid"/>
          </a:ln>
        </p:spPr>
      </p:sp>
      <p:sp>
        <p:nvSpPr>
          <p:cNvPr id="5" name="Shape 3"/>
          <p:cNvSpPr/>
          <p:nvPr/>
        </p:nvSpPr>
        <p:spPr>
          <a:xfrm>
            <a:off x="10607040" y="1371600"/>
            <a:ext cx="-548640" cy="1097280"/>
          </a:xfrm>
          <a:prstGeom prst="line">
            <a:avLst/>
          </a:prstGeom>
          <a:noFill/>
          <a:ln w="15875">
            <a:solidFill>
              <a:srgbClr val="3E6E8C"/>
            </a:solidFill>
            <a:prstDash val="solid"/>
          </a:ln>
        </p:spPr>
      </p:sp>
      <p:sp>
        <p:nvSpPr>
          <p:cNvPr id="6" name="Shape 4"/>
          <p:cNvSpPr/>
          <p:nvPr/>
        </p:nvSpPr>
        <p:spPr>
          <a:xfrm>
            <a:off x="9326880" y="1737360"/>
            <a:ext cx="731520" cy="731520"/>
          </a:xfrm>
          <a:prstGeom prst="line">
            <a:avLst/>
          </a:prstGeom>
          <a:noFill/>
          <a:ln w="15875">
            <a:solidFill>
              <a:srgbClr val="3E6E8C"/>
            </a:solidFill>
            <a:prstDash val="solid"/>
          </a:ln>
        </p:spPr>
      </p:sp>
      <p:sp>
        <p:nvSpPr>
          <p:cNvPr id="7" name="Shape 5"/>
          <p:cNvSpPr/>
          <p:nvPr/>
        </p:nvSpPr>
        <p:spPr>
          <a:xfrm>
            <a:off x="9692640" y="822960"/>
            <a:ext cx="-914400" cy="365760"/>
          </a:xfrm>
          <a:prstGeom prst="line">
            <a:avLst/>
          </a:prstGeom>
          <a:noFill/>
          <a:ln w="15875">
            <a:solidFill>
              <a:srgbClr val="3E6E8C"/>
            </a:solidFill>
            <a:prstDash val="solid"/>
          </a:ln>
        </p:spPr>
      </p:sp>
      <p:sp>
        <p:nvSpPr>
          <p:cNvPr id="8" name="Shape 6"/>
          <p:cNvSpPr/>
          <p:nvPr/>
        </p:nvSpPr>
        <p:spPr>
          <a:xfrm>
            <a:off x="10607040" y="1371600"/>
            <a:ext cx="914400" cy="-457200"/>
          </a:xfrm>
          <a:prstGeom prst="line">
            <a:avLst/>
          </a:prstGeom>
          <a:noFill/>
          <a:ln w="15875">
            <a:solidFill>
              <a:srgbClr val="3E6E8C"/>
            </a:solidFill>
            <a:prstDash val="solid"/>
          </a:ln>
        </p:spPr>
      </p:sp>
      <p:sp>
        <p:nvSpPr>
          <p:cNvPr id="9" name="Shape 7"/>
          <p:cNvSpPr/>
          <p:nvPr/>
        </p:nvSpPr>
        <p:spPr>
          <a:xfrm>
            <a:off x="11247120" y="2103120"/>
            <a:ext cx="274320" cy="-1188720"/>
          </a:xfrm>
          <a:prstGeom prst="line">
            <a:avLst/>
          </a:prstGeom>
          <a:noFill/>
          <a:ln w="15875">
            <a:solidFill>
              <a:srgbClr val="3E6E8C"/>
            </a:solidFill>
            <a:prstDash val="solid"/>
          </a:ln>
        </p:spPr>
      </p:sp>
      <p:sp>
        <p:nvSpPr>
          <p:cNvPr id="10" name="Shape 8"/>
          <p:cNvSpPr/>
          <p:nvPr/>
        </p:nvSpPr>
        <p:spPr>
          <a:xfrm>
            <a:off x="9592056" y="722376"/>
            <a:ext cx="201168" cy="201168"/>
          </a:xfrm>
          <a:prstGeom prst="ellipse">
            <a:avLst/>
          </a:prstGeom>
          <a:solidFill>
            <a:srgbClr val="E8A13A"/>
          </a:solidFill>
          <a:ln/>
        </p:spPr>
      </p:sp>
      <p:sp>
        <p:nvSpPr>
          <p:cNvPr id="11" name="Shape 9"/>
          <p:cNvSpPr/>
          <p:nvPr/>
        </p:nvSpPr>
        <p:spPr>
          <a:xfrm>
            <a:off x="10543032" y="1307592"/>
            <a:ext cx="128016" cy="128016"/>
          </a:xfrm>
          <a:prstGeom prst="ellipse">
            <a:avLst/>
          </a:prstGeom>
          <a:solidFill>
            <a:srgbClr val="6FA8C7"/>
          </a:solidFill>
          <a:ln/>
        </p:spPr>
      </p:sp>
      <p:sp>
        <p:nvSpPr>
          <p:cNvPr id="12" name="Shape 10"/>
          <p:cNvSpPr/>
          <p:nvPr/>
        </p:nvSpPr>
        <p:spPr>
          <a:xfrm>
            <a:off x="9262872" y="1673352"/>
            <a:ext cx="128016" cy="128016"/>
          </a:xfrm>
          <a:prstGeom prst="ellipse">
            <a:avLst/>
          </a:prstGeom>
          <a:solidFill>
            <a:srgbClr val="6FA8C7"/>
          </a:solidFill>
          <a:ln/>
        </p:spPr>
      </p:sp>
      <p:sp>
        <p:nvSpPr>
          <p:cNvPr id="13" name="Shape 11"/>
          <p:cNvSpPr/>
          <p:nvPr/>
        </p:nvSpPr>
        <p:spPr>
          <a:xfrm>
            <a:off x="11183112" y="2039112"/>
            <a:ext cx="128016" cy="128016"/>
          </a:xfrm>
          <a:prstGeom prst="ellipse">
            <a:avLst/>
          </a:prstGeom>
          <a:solidFill>
            <a:srgbClr val="6FA8C7"/>
          </a:solidFill>
          <a:ln/>
        </p:spPr>
      </p:sp>
      <p:sp>
        <p:nvSpPr>
          <p:cNvPr id="14" name="Shape 12"/>
          <p:cNvSpPr/>
          <p:nvPr/>
        </p:nvSpPr>
        <p:spPr>
          <a:xfrm>
            <a:off x="9994392" y="2404872"/>
            <a:ext cx="128016" cy="128016"/>
          </a:xfrm>
          <a:prstGeom prst="ellipse">
            <a:avLst/>
          </a:prstGeom>
          <a:solidFill>
            <a:srgbClr val="6FA8C7"/>
          </a:solidFill>
          <a:ln/>
        </p:spPr>
      </p:sp>
      <p:sp>
        <p:nvSpPr>
          <p:cNvPr id="15" name="Shape 13"/>
          <p:cNvSpPr/>
          <p:nvPr/>
        </p:nvSpPr>
        <p:spPr>
          <a:xfrm>
            <a:off x="8714232" y="1124712"/>
            <a:ext cx="128016" cy="128016"/>
          </a:xfrm>
          <a:prstGeom prst="ellipse">
            <a:avLst/>
          </a:prstGeom>
          <a:solidFill>
            <a:srgbClr val="6FA8C7"/>
          </a:solidFill>
          <a:ln/>
        </p:spPr>
      </p:sp>
      <p:sp>
        <p:nvSpPr>
          <p:cNvPr id="16" name="Shape 14"/>
          <p:cNvSpPr/>
          <p:nvPr/>
        </p:nvSpPr>
        <p:spPr>
          <a:xfrm>
            <a:off x="11457432" y="850392"/>
            <a:ext cx="128016" cy="128016"/>
          </a:xfrm>
          <a:prstGeom prst="ellipse">
            <a:avLst/>
          </a:prstGeom>
          <a:solidFill>
            <a:srgbClr val="6FA8C7"/>
          </a:solidFill>
          <a:ln/>
        </p:spPr>
      </p:sp>
      <p:sp>
        <p:nvSpPr>
          <p:cNvPr id="17" name="Text 15"/>
          <p:cNvSpPr/>
          <p:nvPr/>
        </p:nvSpPr>
        <p:spPr>
          <a:xfrm>
            <a:off x="640080" y="1417320"/>
            <a:ext cx="8686800" cy="320040"/>
          </a:xfrm>
          <a:prstGeom prst="rect">
            <a:avLst/>
          </a:prstGeom>
          <a:noFill/>
          <a:ln/>
        </p:spPr>
        <p:txBody>
          <a:bodyPr wrap="square" lIns="0" tIns="0" rIns="0" bIns="0" rtlCol="0" anchor="ctr"/>
          <a:lstStyle/>
          <a:p>
            <a:pPr indent="0" marL="0">
              <a:buNone/>
            </a:pPr>
            <a:r>
              <a:rPr lang="en-US" sz="1300" b="1" spc="200" kern="0" dirty="0">
                <a:solidFill>
                  <a:srgbClr val="E8A13A"/>
                </a:solidFill>
                <a:latin typeface="Calibri" pitchFamily="34" charset="0"/>
                <a:ea typeface="Calibri" pitchFamily="34" charset="-122"/>
                <a:cs typeface="Calibri" pitchFamily="34" charset="-120"/>
              </a:rPr>
              <a:t>M.TECH REINFORCEMENT LEARNING  •  RESEARCH DEMONSTRATION</a:t>
            </a:r>
            <a:endParaRPr lang="en-US" sz="1300" dirty="0"/>
          </a:p>
        </p:txBody>
      </p:sp>
      <p:sp>
        <p:nvSpPr>
          <p:cNvPr id="18" name="Text 16"/>
          <p:cNvSpPr/>
          <p:nvPr/>
        </p:nvSpPr>
        <p:spPr>
          <a:xfrm>
            <a:off x="640080" y="1828800"/>
            <a:ext cx="9692640" cy="1920240"/>
          </a:xfrm>
          <a:prstGeom prst="rect">
            <a:avLst/>
          </a:prstGeom>
          <a:noFill/>
          <a:ln/>
        </p:spPr>
        <p:txBody>
          <a:bodyPr wrap="square" lIns="0" tIns="0" rIns="0" bIns="0" rtlCol="0" anchor="ctr"/>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Methodology-Faithful Reconstruction and D₀ Sensitivity Analysis of Q-Learning-Based Routing in a 3D Wireless Sensor Network</a:t>
            </a:r>
            <a:endParaRPr lang="en-US" sz="3200" dirty="0"/>
          </a:p>
        </p:txBody>
      </p:sp>
      <p:sp>
        <p:nvSpPr>
          <p:cNvPr id="19" name="Shape 17"/>
          <p:cNvSpPr/>
          <p:nvPr/>
        </p:nvSpPr>
        <p:spPr>
          <a:xfrm>
            <a:off x="658368" y="3886200"/>
            <a:ext cx="2926080" cy="0"/>
          </a:xfrm>
          <a:prstGeom prst="line">
            <a:avLst/>
          </a:prstGeom>
          <a:noFill/>
          <a:ln w="25400">
            <a:solidFill>
              <a:srgbClr val="1C7293"/>
            </a:solidFill>
            <a:prstDash val="solid"/>
          </a:ln>
        </p:spPr>
      </p:sp>
      <p:sp>
        <p:nvSpPr>
          <p:cNvPr id="20" name="Text 18"/>
          <p:cNvSpPr/>
          <p:nvPr/>
        </p:nvSpPr>
        <p:spPr>
          <a:xfrm>
            <a:off x="658368" y="4114800"/>
            <a:ext cx="7772400" cy="1097280"/>
          </a:xfrm>
          <a:prstGeom prst="rect">
            <a:avLst/>
          </a:prstGeom>
          <a:noFill/>
          <a:ln/>
        </p:spPr>
        <p:txBody>
          <a:bodyPr wrap="square" lIns="0" tIns="0" rIns="0" bIns="0" rtlCol="0" anchor="ctr"/>
          <a:lstStyle/>
          <a:p>
            <a:pPr indent="0" marL="0">
              <a:lnSpc>
                <a:spcPct val="125000"/>
              </a:lnSpc>
              <a:buNone/>
            </a:pPr>
            <a:r>
              <a:rPr lang="en-US" sz="1700" b="1" dirty="0">
                <a:solidFill>
                  <a:srgbClr val="FFFFFF"/>
                </a:solidFill>
                <a:latin typeface="Calibri" pitchFamily="34" charset="0"/>
                <a:ea typeface="Calibri" pitchFamily="34" charset="-122"/>
                <a:cs typeface="Calibri" pitchFamily="34" charset="-120"/>
              </a:rPr>
              <a:t>Syeda Nishat
</a:t>
            </a:r>
            <a:pPr indent="0" marL="0">
              <a:lnSpc>
                <a:spcPct val="125000"/>
              </a:lnSpc>
              <a:buNone/>
            </a:pPr>
            <a:r>
              <a:rPr lang="en-US" sz="1250" dirty="0">
                <a:solidFill>
                  <a:srgbClr val="AFC6D3"/>
                </a:solidFill>
                <a:latin typeface="Calibri" pitchFamily="34" charset="0"/>
                <a:ea typeface="Calibri" pitchFamily="34" charset="-122"/>
                <a:cs typeface="Calibri" pitchFamily="34" charset="-120"/>
              </a:rPr>
              <a:t>Reva Academy for Corporate Excellence, Reva University, Bengaluru
</a:t>
            </a:r>
            <a:pPr indent="0" marL="0">
              <a:lnSpc>
                <a:spcPct val="125000"/>
              </a:lnSpc>
              <a:buNone/>
            </a:pPr>
            <a:r>
              <a:rPr lang="en-US" sz="1250" dirty="0">
                <a:solidFill>
                  <a:srgbClr val="AFC6D3"/>
                </a:solidFill>
                <a:latin typeface="Calibri" pitchFamily="34" charset="0"/>
                <a:ea typeface="Calibri" pitchFamily="34" charset="-122"/>
                <a:cs typeface="Calibri" pitchFamily="34" charset="-120"/>
              </a:rPr>
              <a:t>Guide / Mentor: J. B. Simha
</a:t>
            </a:r>
            <a:endParaRPr lang="en-US" sz="1700" dirty="0"/>
          </a:p>
        </p:txBody>
      </p:sp>
      <p:sp>
        <p:nvSpPr>
          <p:cNvPr id="21" name="Shape 19"/>
          <p:cNvSpPr/>
          <p:nvPr/>
        </p:nvSpPr>
        <p:spPr>
          <a:xfrm>
            <a:off x="658368" y="5349240"/>
            <a:ext cx="8138160" cy="960120"/>
          </a:xfrm>
          <a:prstGeom prst="roundRect">
            <a:avLst>
              <a:gd name="adj" fmla="val 7619"/>
            </a:avLst>
          </a:prstGeom>
          <a:solidFill>
            <a:srgbClr val="0F3D57"/>
          </a:solidFill>
          <a:ln w="12700">
            <a:solidFill>
              <a:srgbClr val="1C567A"/>
            </a:solidFill>
            <a:prstDash val="solid"/>
          </a:ln>
        </p:spPr>
      </p:sp>
      <p:sp>
        <p:nvSpPr>
          <p:cNvPr id="22" name="Text 20"/>
          <p:cNvSpPr/>
          <p:nvPr/>
        </p:nvSpPr>
        <p:spPr>
          <a:xfrm>
            <a:off x="868680" y="5468112"/>
            <a:ext cx="7726680" cy="731520"/>
          </a:xfrm>
          <a:prstGeom prst="rect">
            <a:avLst/>
          </a:prstGeom>
          <a:noFill/>
          <a:ln/>
        </p:spPr>
        <p:txBody>
          <a:bodyPr wrap="square" lIns="0" tIns="0" rIns="0" bIns="0" rtlCol="0" anchor="ctr"/>
          <a:lstStyle/>
          <a:p>
            <a:pPr indent="0" marL="0">
              <a:lnSpc>
                <a:spcPct val="115000"/>
              </a:lnSpc>
              <a:buNone/>
            </a:pPr>
            <a:r>
              <a:rPr lang="en-US" sz="1150" b="1" dirty="0">
                <a:solidFill>
                  <a:srgbClr val="E8A13A"/>
                </a:solidFill>
                <a:latin typeface="Calibri" pitchFamily="34" charset="0"/>
                <a:ea typeface="Calibri" pitchFamily="34" charset="-122"/>
                <a:cs typeface="Calibri" pitchFamily="34" charset="-120"/>
              </a:rPr>
              <a:t>Reference Paper:  </a:t>
            </a:r>
            <a:pPr indent="0" marL="0">
              <a:lnSpc>
                <a:spcPct val="115000"/>
              </a:lnSpc>
              <a:buNone/>
            </a:pPr>
            <a:r>
              <a:rPr lang="en-US" sz="1150" dirty="0">
                <a:solidFill>
                  <a:srgbClr val="E4EEF3"/>
                </a:solidFill>
                <a:latin typeface="Calibri" pitchFamily="34" charset="0"/>
                <a:ea typeface="Calibri" pitchFamily="34" charset="-122"/>
                <a:cs typeface="Calibri" pitchFamily="34" charset="-120"/>
              </a:rPr>
              <a:t>I. Jrhilifa, H. Ouadi, and A. Jilbab, “Q-learning-based Optimization of Smart Home's Wireless Sensors Network Lifetime,” International Journal of Renewable Energy Research, Vol. 13, No. 1, 2023.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Background and the Routing Problem</a:t>
            </a:r>
            <a:endParaRPr lang="en-US" sz="3000" dirty="0"/>
          </a:p>
        </p:txBody>
      </p:sp>
      <p:sp>
        <p:nvSpPr>
          <p:cNvPr id="4" name="Shape 2"/>
          <p:cNvSpPr/>
          <p:nvPr/>
        </p:nvSpPr>
        <p:spPr>
          <a:xfrm>
            <a:off x="457200" y="1554480"/>
            <a:ext cx="5074920" cy="1417320"/>
          </a:xfrm>
          <a:prstGeom prst="roundRect">
            <a:avLst>
              <a:gd name="adj" fmla="val 5806"/>
            </a:avLst>
          </a:prstGeom>
          <a:solidFill>
            <a:srgbClr val="F5F9FB"/>
          </a:solidFill>
          <a:ln w="12700">
            <a:solidFill>
              <a:srgbClr val="D8E4E9"/>
            </a:solidFill>
            <a:prstDash val="solid"/>
          </a:ln>
        </p:spPr>
      </p:sp>
      <p:sp>
        <p:nvSpPr>
          <p:cNvPr id="5" name="Shape 3"/>
          <p:cNvSpPr/>
          <p:nvPr/>
        </p:nvSpPr>
        <p:spPr>
          <a:xfrm>
            <a:off x="731520" y="1828800"/>
            <a:ext cx="502920" cy="502920"/>
          </a:xfrm>
          <a:prstGeom prst="ellipse">
            <a:avLst/>
          </a:prstGeom>
          <a:solidFill>
            <a:srgbClr val="065A82"/>
          </a:solidFill>
          <a:ln/>
        </p:spPr>
      </p:sp>
      <p:sp>
        <p:nvSpPr>
          <p:cNvPr id="6" name="Text 4"/>
          <p:cNvSpPr/>
          <p:nvPr/>
        </p:nvSpPr>
        <p:spPr>
          <a:xfrm>
            <a:off x="731520" y="182880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417320" y="1755648"/>
            <a:ext cx="3840480" cy="365760"/>
          </a:xfrm>
          <a:prstGeom prst="rect">
            <a:avLst/>
          </a:prstGeom>
          <a:noFill/>
          <a:ln/>
        </p:spPr>
        <p:txBody>
          <a:bodyPr wrap="square" lIns="0" tIns="0" rIns="0" bIns="0" rtlCol="0" anchor="ctr"/>
          <a:lstStyle/>
          <a:p>
            <a:pPr indent="0" marL="0">
              <a:buNone/>
            </a:pPr>
            <a:r>
              <a:rPr lang="en-US" sz="1600" b="1" dirty="0">
                <a:solidFill>
                  <a:srgbClr val="16242C"/>
                </a:solidFill>
                <a:latin typeface="Calibri" pitchFamily="34" charset="0"/>
                <a:ea typeface="Calibri" pitchFamily="34" charset="-122"/>
                <a:cs typeface="Calibri" pitchFamily="34" charset="-120"/>
              </a:rPr>
              <a:t>Wireless Sensor Networks</a:t>
            </a:r>
            <a:endParaRPr lang="en-US" sz="1600" dirty="0"/>
          </a:p>
        </p:txBody>
      </p:sp>
      <p:sp>
        <p:nvSpPr>
          <p:cNvPr id="8" name="Text 6"/>
          <p:cNvSpPr/>
          <p:nvPr/>
        </p:nvSpPr>
        <p:spPr>
          <a:xfrm>
            <a:off x="1417320" y="2157984"/>
            <a:ext cx="3840480" cy="731520"/>
          </a:xfrm>
          <a:prstGeom prst="rect">
            <a:avLst/>
          </a:prstGeom>
          <a:noFill/>
          <a:ln/>
        </p:spPr>
        <p:txBody>
          <a:bodyPr wrap="square" lIns="0" tIns="0" rIns="0" bIns="0" rtlCol="0" anchor="ctr"/>
          <a:lstStyle/>
          <a:p>
            <a:pPr indent="0" marL="0">
              <a:lnSpc>
                <a:spcPct val="120000"/>
              </a:lnSpc>
              <a:buNone/>
            </a:pPr>
            <a:r>
              <a:rPr lang="en-US" sz="1200" dirty="0">
                <a:solidFill>
                  <a:srgbClr val="5C7684"/>
                </a:solidFill>
                <a:latin typeface="Calibri" pitchFamily="34" charset="0"/>
                <a:ea typeface="Calibri" pitchFamily="34" charset="-122"/>
                <a:cs typeface="Calibri" pitchFamily="34" charset="-120"/>
              </a:rPr>
              <a:t>Spatially distributed, battery-powered sensor nodes relay data toward a central sink node.</a:t>
            </a:r>
            <a:endParaRPr lang="en-US" sz="1200" dirty="0"/>
          </a:p>
        </p:txBody>
      </p:sp>
      <p:sp>
        <p:nvSpPr>
          <p:cNvPr id="9" name="Shape 7"/>
          <p:cNvSpPr/>
          <p:nvPr/>
        </p:nvSpPr>
        <p:spPr>
          <a:xfrm>
            <a:off x="5989320" y="1554480"/>
            <a:ext cx="5074920" cy="1417320"/>
          </a:xfrm>
          <a:prstGeom prst="roundRect">
            <a:avLst>
              <a:gd name="adj" fmla="val 5806"/>
            </a:avLst>
          </a:prstGeom>
          <a:solidFill>
            <a:srgbClr val="F5F9FB"/>
          </a:solidFill>
          <a:ln w="12700">
            <a:solidFill>
              <a:srgbClr val="D8E4E9"/>
            </a:solidFill>
            <a:prstDash val="solid"/>
          </a:ln>
        </p:spPr>
      </p:sp>
      <p:sp>
        <p:nvSpPr>
          <p:cNvPr id="10" name="Shape 8"/>
          <p:cNvSpPr/>
          <p:nvPr/>
        </p:nvSpPr>
        <p:spPr>
          <a:xfrm>
            <a:off x="6263640" y="1828800"/>
            <a:ext cx="502920" cy="502920"/>
          </a:xfrm>
          <a:prstGeom prst="ellipse">
            <a:avLst/>
          </a:prstGeom>
          <a:solidFill>
            <a:srgbClr val="065A82"/>
          </a:solidFill>
          <a:ln/>
        </p:spPr>
      </p:sp>
      <p:sp>
        <p:nvSpPr>
          <p:cNvPr id="11" name="Text 9"/>
          <p:cNvSpPr/>
          <p:nvPr/>
        </p:nvSpPr>
        <p:spPr>
          <a:xfrm>
            <a:off x="6263640" y="182880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10"/>
          <p:cNvSpPr/>
          <p:nvPr/>
        </p:nvSpPr>
        <p:spPr>
          <a:xfrm>
            <a:off x="6949440" y="1755648"/>
            <a:ext cx="3840480" cy="365760"/>
          </a:xfrm>
          <a:prstGeom prst="rect">
            <a:avLst/>
          </a:prstGeom>
          <a:noFill/>
          <a:ln/>
        </p:spPr>
        <p:txBody>
          <a:bodyPr wrap="square" lIns="0" tIns="0" rIns="0" bIns="0" rtlCol="0" anchor="ctr"/>
          <a:lstStyle/>
          <a:p>
            <a:pPr indent="0" marL="0">
              <a:buNone/>
            </a:pPr>
            <a:r>
              <a:rPr lang="en-US" sz="1600" b="1" dirty="0">
                <a:solidFill>
                  <a:srgbClr val="16242C"/>
                </a:solidFill>
                <a:latin typeface="Calibri" pitchFamily="34" charset="0"/>
                <a:ea typeface="Calibri" pitchFamily="34" charset="-122"/>
                <a:cs typeface="Calibri" pitchFamily="34" charset="-120"/>
              </a:rPr>
              <a:t>Energy-Constrained Nodes</a:t>
            </a:r>
            <a:endParaRPr lang="en-US" sz="1600" dirty="0"/>
          </a:p>
        </p:txBody>
      </p:sp>
      <p:sp>
        <p:nvSpPr>
          <p:cNvPr id="13" name="Text 11"/>
          <p:cNvSpPr/>
          <p:nvPr/>
        </p:nvSpPr>
        <p:spPr>
          <a:xfrm>
            <a:off x="6949440" y="2157984"/>
            <a:ext cx="3840480" cy="731520"/>
          </a:xfrm>
          <a:prstGeom prst="rect">
            <a:avLst/>
          </a:prstGeom>
          <a:noFill/>
          <a:ln/>
        </p:spPr>
        <p:txBody>
          <a:bodyPr wrap="square" lIns="0" tIns="0" rIns="0" bIns="0" rtlCol="0" anchor="ctr"/>
          <a:lstStyle/>
          <a:p>
            <a:pPr indent="0" marL="0">
              <a:lnSpc>
                <a:spcPct val="120000"/>
              </a:lnSpc>
              <a:buNone/>
            </a:pPr>
            <a:r>
              <a:rPr lang="en-US" sz="1200" dirty="0">
                <a:solidFill>
                  <a:srgbClr val="5C7684"/>
                </a:solidFill>
                <a:latin typeface="Calibri" pitchFamily="34" charset="0"/>
                <a:ea typeface="Calibri" pitchFamily="34" charset="-122"/>
                <a:cs typeface="Calibri" pitchFamily="34" charset="-120"/>
              </a:rPr>
              <a:t>Nodes run on finite batteries; recharging or replacement is often impractical in deployed settings.</a:t>
            </a:r>
            <a:endParaRPr lang="en-US" sz="1200" dirty="0"/>
          </a:p>
        </p:txBody>
      </p:sp>
      <p:sp>
        <p:nvSpPr>
          <p:cNvPr id="14" name="Shape 12"/>
          <p:cNvSpPr/>
          <p:nvPr/>
        </p:nvSpPr>
        <p:spPr>
          <a:xfrm>
            <a:off x="457200" y="3337560"/>
            <a:ext cx="5074920" cy="1417320"/>
          </a:xfrm>
          <a:prstGeom prst="roundRect">
            <a:avLst>
              <a:gd name="adj" fmla="val 5806"/>
            </a:avLst>
          </a:prstGeom>
          <a:solidFill>
            <a:srgbClr val="F5F9FB"/>
          </a:solidFill>
          <a:ln w="12700">
            <a:solidFill>
              <a:srgbClr val="D8E4E9"/>
            </a:solidFill>
            <a:prstDash val="solid"/>
          </a:ln>
        </p:spPr>
      </p:sp>
      <p:sp>
        <p:nvSpPr>
          <p:cNvPr id="15" name="Shape 13"/>
          <p:cNvSpPr/>
          <p:nvPr/>
        </p:nvSpPr>
        <p:spPr>
          <a:xfrm>
            <a:off x="731520" y="3611880"/>
            <a:ext cx="502920" cy="502920"/>
          </a:xfrm>
          <a:prstGeom prst="ellipse">
            <a:avLst/>
          </a:prstGeom>
          <a:solidFill>
            <a:srgbClr val="065A82"/>
          </a:solidFill>
          <a:ln/>
        </p:spPr>
      </p:sp>
      <p:sp>
        <p:nvSpPr>
          <p:cNvPr id="16" name="Text 14"/>
          <p:cNvSpPr/>
          <p:nvPr/>
        </p:nvSpPr>
        <p:spPr>
          <a:xfrm>
            <a:off x="731520" y="361188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7" name="Text 15"/>
          <p:cNvSpPr/>
          <p:nvPr/>
        </p:nvSpPr>
        <p:spPr>
          <a:xfrm>
            <a:off x="1417320" y="3538728"/>
            <a:ext cx="3840480" cy="365760"/>
          </a:xfrm>
          <a:prstGeom prst="rect">
            <a:avLst/>
          </a:prstGeom>
          <a:noFill/>
          <a:ln/>
        </p:spPr>
        <p:txBody>
          <a:bodyPr wrap="square" lIns="0" tIns="0" rIns="0" bIns="0" rtlCol="0" anchor="ctr"/>
          <a:lstStyle/>
          <a:p>
            <a:pPr indent="0" marL="0">
              <a:buNone/>
            </a:pPr>
            <a:r>
              <a:rPr lang="en-US" sz="1600" b="1" dirty="0">
                <a:solidFill>
                  <a:srgbClr val="16242C"/>
                </a:solidFill>
                <a:latin typeface="Calibri" pitchFamily="34" charset="0"/>
                <a:ea typeface="Calibri" pitchFamily="34" charset="-122"/>
                <a:cs typeface="Calibri" pitchFamily="34" charset="-120"/>
              </a:rPr>
              <a:t>Multi-Hop Routing</a:t>
            </a:r>
            <a:endParaRPr lang="en-US" sz="1600" dirty="0"/>
          </a:p>
        </p:txBody>
      </p:sp>
      <p:sp>
        <p:nvSpPr>
          <p:cNvPr id="18" name="Text 16"/>
          <p:cNvSpPr/>
          <p:nvPr/>
        </p:nvSpPr>
        <p:spPr>
          <a:xfrm>
            <a:off x="1417320" y="3941064"/>
            <a:ext cx="3840480" cy="731520"/>
          </a:xfrm>
          <a:prstGeom prst="rect">
            <a:avLst/>
          </a:prstGeom>
          <a:noFill/>
          <a:ln/>
        </p:spPr>
        <p:txBody>
          <a:bodyPr wrap="square" lIns="0" tIns="0" rIns="0" bIns="0" rtlCol="0" anchor="ctr"/>
          <a:lstStyle/>
          <a:p>
            <a:pPr indent="0" marL="0">
              <a:lnSpc>
                <a:spcPct val="120000"/>
              </a:lnSpc>
              <a:buNone/>
            </a:pPr>
            <a:r>
              <a:rPr lang="en-US" sz="1200" dirty="0">
                <a:solidFill>
                  <a:srgbClr val="5C7684"/>
                </a:solidFill>
                <a:latin typeface="Calibri" pitchFamily="34" charset="0"/>
                <a:ea typeface="Calibri" pitchFamily="34" charset="-122"/>
                <a:cs typeface="Calibri" pitchFamily="34" charset="-120"/>
              </a:rPr>
              <a:t>Data travels sensor-to-sensor before reaching the sink, so every hop consumes shared network energy.</a:t>
            </a:r>
            <a:endParaRPr lang="en-US" sz="1200" dirty="0"/>
          </a:p>
        </p:txBody>
      </p:sp>
      <p:sp>
        <p:nvSpPr>
          <p:cNvPr id="19" name="Shape 17"/>
          <p:cNvSpPr/>
          <p:nvPr/>
        </p:nvSpPr>
        <p:spPr>
          <a:xfrm>
            <a:off x="5989320" y="3337560"/>
            <a:ext cx="5074920" cy="1417320"/>
          </a:xfrm>
          <a:prstGeom prst="roundRect">
            <a:avLst>
              <a:gd name="adj" fmla="val 5806"/>
            </a:avLst>
          </a:prstGeom>
          <a:solidFill>
            <a:srgbClr val="F5F9FB"/>
          </a:solidFill>
          <a:ln w="12700">
            <a:solidFill>
              <a:srgbClr val="D8E4E9"/>
            </a:solidFill>
            <a:prstDash val="solid"/>
          </a:ln>
        </p:spPr>
      </p:sp>
      <p:sp>
        <p:nvSpPr>
          <p:cNvPr id="20" name="Shape 18"/>
          <p:cNvSpPr/>
          <p:nvPr/>
        </p:nvSpPr>
        <p:spPr>
          <a:xfrm>
            <a:off x="6263640" y="3611880"/>
            <a:ext cx="502920" cy="502920"/>
          </a:xfrm>
          <a:prstGeom prst="ellipse">
            <a:avLst/>
          </a:prstGeom>
          <a:solidFill>
            <a:srgbClr val="065A82"/>
          </a:solidFill>
          <a:ln/>
        </p:spPr>
      </p:sp>
      <p:sp>
        <p:nvSpPr>
          <p:cNvPr id="21" name="Text 19"/>
          <p:cNvSpPr/>
          <p:nvPr/>
        </p:nvSpPr>
        <p:spPr>
          <a:xfrm>
            <a:off x="6263640" y="361188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p:nvPr/>
        </p:nvSpPr>
        <p:spPr>
          <a:xfrm>
            <a:off x="6949440" y="3538728"/>
            <a:ext cx="3840480" cy="365760"/>
          </a:xfrm>
          <a:prstGeom prst="rect">
            <a:avLst/>
          </a:prstGeom>
          <a:noFill/>
          <a:ln/>
        </p:spPr>
        <p:txBody>
          <a:bodyPr wrap="square" lIns="0" tIns="0" rIns="0" bIns="0" rtlCol="0" anchor="ctr"/>
          <a:lstStyle/>
          <a:p>
            <a:pPr indent="0" marL="0">
              <a:buNone/>
            </a:pPr>
            <a:r>
              <a:rPr lang="en-US" sz="1600" b="1" dirty="0">
                <a:solidFill>
                  <a:srgbClr val="16242C"/>
                </a:solidFill>
                <a:latin typeface="Calibri" pitchFamily="34" charset="0"/>
                <a:ea typeface="Calibri" pitchFamily="34" charset="-122"/>
                <a:cs typeface="Calibri" pitchFamily="34" charset="-120"/>
              </a:rPr>
              <a:t>Network Lifetime Problem</a:t>
            </a:r>
            <a:endParaRPr lang="en-US" sz="1600" dirty="0"/>
          </a:p>
        </p:txBody>
      </p:sp>
      <p:sp>
        <p:nvSpPr>
          <p:cNvPr id="23" name="Text 21"/>
          <p:cNvSpPr/>
          <p:nvPr/>
        </p:nvSpPr>
        <p:spPr>
          <a:xfrm>
            <a:off x="6949440" y="3941064"/>
            <a:ext cx="3840480" cy="731520"/>
          </a:xfrm>
          <a:prstGeom prst="rect">
            <a:avLst/>
          </a:prstGeom>
          <a:noFill/>
          <a:ln/>
        </p:spPr>
        <p:txBody>
          <a:bodyPr wrap="square" lIns="0" tIns="0" rIns="0" bIns="0" rtlCol="0" anchor="ctr"/>
          <a:lstStyle/>
          <a:p>
            <a:pPr indent="0" marL="0">
              <a:lnSpc>
                <a:spcPct val="120000"/>
              </a:lnSpc>
              <a:buNone/>
            </a:pPr>
            <a:r>
              <a:rPr lang="en-US" sz="1200" dirty="0">
                <a:solidFill>
                  <a:srgbClr val="5C7684"/>
                </a:solidFill>
                <a:latin typeface="Calibri" pitchFamily="34" charset="0"/>
                <a:ea typeface="Calibri" pitchFamily="34" charset="-122"/>
                <a:cs typeface="Calibri" pitchFamily="34" charset="-120"/>
              </a:rPr>
              <a:t>The goal is to balance energy use across nodes to maximize successful transmissions before nodes are exhausted.</a:t>
            </a:r>
            <a:endParaRPr lang="en-US" sz="1200" dirty="0"/>
          </a:p>
        </p:txBody>
      </p:sp>
      <p:sp>
        <p:nvSpPr>
          <p:cNvPr id="24" name="Shape 22"/>
          <p:cNvSpPr/>
          <p:nvPr/>
        </p:nvSpPr>
        <p:spPr>
          <a:xfrm>
            <a:off x="457200" y="5623560"/>
            <a:ext cx="10607040" cy="777240"/>
          </a:xfrm>
          <a:prstGeom prst="roundRect">
            <a:avLst>
              <a:gd name="adj" fmla="val 9412"/>
            </a:avLst>
          </a:prstGeom>
          <a:solidFill>
            <a:srgbClr val="0B2E44"/>
          </a:solidFill>
          <a:ln/>
        </p:spPr>
      </p:sp>
      <p:sp>
        <p:nvSpPr>
          <p:cNvPr id="25" name="Text 23"/>
          <p:cNvSpPr/>
          <p:nvPr/>
        </p:nvSpPr>
        <p:spPr>
          <a:xfrm>
            <a:off x="731520" y="5623560"/>
            <a:ext cx="10058400" cy="777240"/>
          </a:xfrm>
          <a:prstGeom prst="rect">
            <a:avLst/>
          </a:prstGeom>
          <a:noFill/>
          <a:ln/>
        </p:spPr>
        <p:txBody>
          <a:bodyPr wrap="square" lIns="0" tIns="0" rIns="0" bIns="0" rtlCol="0" anchor="ctr"/>
          <a:lstStyle/>
          <a:p>
            <a:pPr indent="0" marL="0">
              <a:lnSpc>
                <a:spcPct val="115000"/>
              </a:lnSpc>
              <a:buNone/>
            </a:pPr>
            <a:r>
              <a:rPr lang="en-US" sz="1300" b="1" dirty="0">
                <a:solidFill>
                  <a:srgbClr val="E8A13A"/>
                </a:solidFill>
                <a:latin typeface="Calibri" pitchFamily="34" charset="0"/>
                <a:ea typeface="Calibri" pitchFamily="34" charset="-122"/>
                <a:cs typeface="Calibri" pitchFamily="34" charset="-120"/>
              </a:rPr>
              <a:t>Why Reinforcement Learning?  </a:t>
            </a:r>
            <a:pPr indent="0" marL="0">
              <a:lnSpc>
                <a:spcPct val="115000"/>
              </a:lnSpc>
              <a:buNone/>
            </a:pPr>
            <a:r>
              <a:rPr lang="en-US" sz="1250" dirty="0">
                <a:solidFill>
                  <a:srgbClr val="E4EEF3"/>
                </a:solidFill>
                <a:latin typeface="Calibri" pitchFamily="34" charset="0"/>
                <a:ea typeface="Calibri" pitchFamily="34" charset="-122"/>
                <a:cs typeface="Calibri" pitchFamily="34" charset="-120"/>
              </a:rPr>
              <a:t>Q-learning enables adaptive, next-hop routing decisions that jointly weigh residual energy, distance, and remaining hop count — without needing a full model of network dynamics.</a:t>
            </a:r>
            <a:endParaRPr lang="en-US" sz="1300" dirty="0"/>
          </a:p>
        </p:txBody>
      </p:sp>
      <p:sp>
        <p:nvSpPr>
          <p:cNvPr id="26" name="Text 24"/>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27" name="Text 25"/>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REFERENCE &amp; OBJECTIVE</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Reference Paper and Research Objective</a:t>
            </a:r>
            <a:endParaRPr lang="en-US" sz="3000" dirty="0"/>
          </a:p>
        </p:txBody>
      </p:sp>
      <p:sp>
        <p:nvSpPr>
          <p:cNvPr id="4" name="Shape 2"/>
          <p:cNvSpPr/>
          <p:nvPr/>
        </p:nvSpPr>
        <p:spPr>
          <a:xfrm>
            <a:off x="457200" y="1508760"/>
            <a:ext cx="5212080" cy="3246120"/>
          </a:xfrm>
          <a:prstGeom prst="roundRect">
            <a:avLst>
              <a:gd name="adj" fmla="val 2535"/>
            </a:avLst>
          </a:prstGeom>
          <a:solidFill>
            <a:srgbClr val="F5F9FB"/>
          </a:solidFill>
          <a:ln w="12700">
            <a:solidFill>
              <a:srgbClr val="D8E4E9"/>
            </a:solidFill>
            <a:prstDash val="solid"/>
          </a:ln>
        </p:spPr>
      </p:sp>
      <p:sp>
        <p:nvSpPr>
          <p:cNvPr id="5" name="Text 3"/>
          <p:cNvSpPr/>
          <p:nvPr/>
        </p:nvSpPr>
        <p:spPr>
          <a:xfrm>
            <a:off x="731520" y="1691640"/>
            <a:ext cx="4663440" cy="274320"/>
          </a:xfrm>
          <a:prstGeom prst="rect">
            <a:avLst/>
          </a:prstGeom>
          <a:noFill/>
          <a:ln/>
        </p:spPr>
        <p:txBody>
          <a:bodyPr wrap="square" lIns="0" tIns="0" rIns="0" bIns="0" rtlCol="0" anchor="ctr"/>
          <a:lstStyle/>
          <a:p>
            <a:pPr indent="0" marL="0">
              <a:buNone/>
            </a:pPr>
            <a:r>
              <a:rPr lang="en-US" sz="1100" b="1" spc="150" kern="0" dirty="0">
                <a:solidFill>
                  <a:srgbClr val="065A82"/>
                </a:solidFill>
                <a:latin typeface="Calibri" pitchFamily="34" charset="0"/>
                <a:ea typeface="Calibri" pitchFamily="34" charset="-122"/>
                <a:cs typeface="Calibri" pitchFamily="34" charset="-120"/>
              </a:rPr>
              <a:t>REFERENCE PAPER</a:t>
            </a:r>
            <a:endParaRPr lang="en-US" sz="1100" dirty="0"/>
          </a:p>
        </p:txBody>
      </p:sp>
      <p:sp>
        <p:nvSpPr>
          <p:cNvPr id="6" name="Text 4"/>
          <p:cNvSpPr/>
          <p:nvPr/>
        </p:nvSpPr>
        <p:spPr>
          <a:xfrm>
            <a:off x="731520" y="1993392"/>
            <a:ext cx="4663440" cy="777240"/>
          </a:xfrm>
          <a:prstGeom prst="rect">
            <a:avLst/>
          </a:prstGeom>
          <a:noFill/>
          <a:ln/>
        </p:spPr>
        <p:txBody>
          <a:bodyPr wrap="square" lIns="0" tIns="0" rIns="0" bIns="0" rtlCol="0" anchor="ctr"/>
          <a:lstStyle/>
          <a:p>
            <a:pPr indent="0" marL="0">
              <a:lnSpc>
                <a:spcPct val="110000"/>
              </a:lnSpc>
              <a:buNone/>
            </a:pPr>
            <a:r>
              <a:rPr lang="en-US" sz="1600" b="1" dirty="0">
                <a:solidFill>
                  <a:srgbClr val="16242C"/>
                </a:solidFill>
                <a:latin typeface="Cambria" pitchFamily="34" charset="0"/>
                <a:ea typeface="Cambria" pitchFamily="34" charset="-122"/>
                <a:cs typeface="Cambria" pitchFamily="34" charset="-120"/>
              </a:rPr>
              <a:t>Q-learning-based Optimization of Smart Home's Wireless Sensors Network Lifetime</a:t>
            </a:r>
            <a:endParaRPr lang="en-US" sz="1600" dirty="0"/>
          </a:p>
        </p:txBody>
      </p:sp>
      <p:sp>
        <p:nvSpPr>
          <p:cNvPr id="7" name="Text 5"/>
          <p:cNvSpPr/>
          <p:nvPr/>
        </p:nvSpPr>
        <p:spPr>
          <a:xfrm>
            <a:off x="731520" y="2880360"/>
            <a:ext cx="4663440" cy="1005840"/>
          </a:xfrm>
          <a:prstGeom prst="rect">
            <a:avLst/>
          </a:prstGeom>
          <a:noFill/>
          <a:ln/>
        </p:spPr>
        <p:txBody>
          <a:bodyPr wrap="square" lIns="0" tIns="0" rIns="0" bIns="0" rtlCol="0" anchor="ctr"/>
          <a:lstStyle/>
          <a:p>
            <a:pPr indent="0" marL="0">
              <a:lnSpc>
                <a:spcPct val="135000"/>
              </a:lnSpc>
              <a:buNone/>
            </a:pPr>
            <a:r>
              <a:rPr lang="en-US" sz="1200" b="1" dirty="0">
                <a:solidFill>
                  <a:srgbClr val="5C7684"/>
                </a:solidFill>
                <a:latin typeface="Calibri" pitchFamily="34" charset="0"/>
                <a:ea typeface="Calibri" pitchFamily="34" charset="-122"/>
                <a:cs typeface="Calibri" pitchFamily="34" charset="-120"/>
              </a:rPr>
              <a:t>Authors:  </a:t>
            </a:r>
            <a:pPr indent="0" marL="0">
              <a:lnSpc>
                <a:spcPct val="135000"/>
              </a:lnSpc>
              <a:buNone/>
            </a:pPr>
            <a:r>
              <a:rPr lang="en-US" sz="1200" dirty="0">
                <a:solidFill>
                  <a:srgbClr val="16242C"/>
                </a:solidFill>
                <a:latin typeface="Calibri" pitchFamily="34" charset="0"/>
                <a:ea typeface="Calibri" pitchFamily="34" charset="-122"/>
                <a:cs typeface="Calibri" pitchFamily="34" charset="-120"/>
              </a:rPr>
              <a:t>I. Jrhilifa, H. Ouadi, A. Jilbab
</a:t>
            </a:r>
            <a:pPr indent="0" marL="0">
              <a:lnSpc>
                <a:spcPct val="135000"/>
              </a:lnSpc>
              <a:buNone/>
            </a:pPr>
            <a:r>
              <a:rPr lang="en-US" sz="1200" b="1" dirty="0">
                <a:solidFill>
                  <a:srgbClr val="5C7684"/>
                </a:solidFill>
                <a:latin typeface="Calibri" pitchFamily="34" charset="0"/>
                <a:ea typeface="Calibri" pitchFamily="34" charset="-122"/>
                <a:cs typeface="Calibri" pitchFamily="34" charset="-120"/>
              </a:rPr>
              <a:t>Journal:  </a:t>
            </a:r>
            <a:pPr indent="0" marL="0">
              <a:lnSpc>
                <a:spcPct val="135000"/>
              </a:lnSpc>
              <a:buNone/>
            </a:pPr>
            <a:r>
              <a:rPr lang="en-US" sz="1200" dirty="0">
                <a:solidFill>
                  <a:srgbClr val="16242C"/>
                </a:solidFill>
                <a:latin typeface="Calibri" pitchFamily="34" charset="0"/>
                <a:ea typeface="Calibri" pitchFamily="34" charset="-122"/>
                <a:cs typeface="Calibri" pitchFamily="34" charset="-120"/>
              </a:rPr>
              <a:t>Intl. Journal of Renewable Energy Research
</a:t>
            </a:r>
            <a:pPr indent="0" marL="0">
              <a:lnSpc>
                <a:spcPct val="135000"/>
              </a:lnSpc>
              <a:buNone/>
            </a:pPr>
            <a:r>
              <a:rPr lang="en-US" sz="1200" b="1" dirty="0">
                <a:solidFill>
                  <a:srgbClr val="5C7684"/>
                </a:solidFill>
                <a:latin typeface="Calibri" pitchFamily="34" charset="0"/>
                <a:ea typeface="Calibri" pitchFamily="34" charset="-122"/>
                <a:cs typeface="Calibri" pitchFamily="34" charset="-120"/>
              </a:rPr>
              <a:t>Volume / Year:  </a:t>
            </a:r>
            <a:pPr indent="0" marL="0">
              <a:lnSpc>
                <a:spcPct val="135000"/>
              </a:lnSpc>
              <a:buNone/>
            </a:pPr>
            <a:r>
              <a:rPr lang="en-US" sz="1200" dirty="0">
                <a:solidFill>
                  <a:srgbClr val="16242C"/>
                </a:solidFill>
                <a:latin typeface="Calibri" pitchFamily="34" charset="0"/>
                <a:ea typeface="Calibri" pitchFamily="34" charset="-122"/>
                <a:cs typeface="Calibri" pitchFamily="34" charset="-120"/>
              </a:rPr>
              <a:t>Vol. 13, No. 1, 2023</a:t>
            </a:r>
            <a:endParaRPr lang="en-US" sz="1200" dirty="0"/>
          </a:p>
        </p:txBody>
      </p:sp>
      <p:sp>
        <p:nvSpPr>
          <p:cNvPr id="8" name="Shape 6"/>
          <p:cNvSpPr/>
          <p:nvPr/>
        </p:nvSpPr>
        <p:spPr>
          <a:xfrm>
            <a:off x="731520" y="3977640"/>
            <a:ext cx="4663440" cy="0"/>
          </a:xfrm>
          <a:prstGeom prst="line">
            <a:avLst/>
          </a:prstGeom>
          <a:noFill/>
          <a:ln w="12700">
            <a:solidFill>
              <a:srgbClr val="D8E4E9"/>
            </a:solidFill>
            <a:prstDash val="solid"/>
          </a:ln>
        </p:spPr>
      </p:sp>
      <p:sp>
        <p:nvSpPr>
          <p:cNvPr id="9" name="Text 7"/>
          <p:cNvSpPr/>
          <p:nvPr/>
        </p:nvSpPr>
        <p:spPr>
          <a:xfrm>
            <a:off x="731520" y="4114800"/>
            <a:ext cx="4663440" cy="594360"/>
          </a:xfrm>
          <a:prstGeom prst="rect">
            <a:avLst/>
          </a:prstGeom>
          <a:noFill/>
          <a:ln/>
        </p:spPr>
        <p:txBody>
          <a:bodyPr wrap="square" lIns="0" tIns="0" rIns="0" bIns="0" rtlCol="0" anchor="ctr"/>
          <a:lstStyle/>
          <a:p>
            <a:pPr indent="0" marL="0">
              <a:lnSpc>
                <a:spcPct val="120000"/>
              </a:lnSpc>
              <a:buNone/>
            </a:pPr>
            <a:r>
              <a:rPr lang="en-US" sz="1150" i="1" dirty="0">
                <a:solidFill>
                  <a:srgbClr val="5C7684"/>
                </a:solidFill>
                <a:latin typeface="Calibri" pitchFamily="34" charset="0"/>
                <a:ea typeface="Calibri" pitchFamily="34" charset="-122"/>
                <a:cs typeface="Calibri" pitchFamily="34" charset="-120"/>
              </a:rPr>
              <a:t>Investigates a Q-learning-based energy-efficient routing scheme for a smart-home WSN and compares it against a Dijkstra shortest-path baseline.</a:t>
            </a:r>
            <a:endParaRPr lang="en-US" sz="1150" dirty="0"/>
          </a:p>
        </p:txBody>
      </p:sp>
      <p:sp>
        <p:nvSpPr>
          <p:cNvPr id="10" name="Shape 8"/>
          <p:cNvSpPr/>
          <p:nvPr/>
        </p:nvSpPr>
        <p:spPr>
          <a:xfrm>
            <a:off x="5852160" y="1508760"/>
            <a:ext cx="5852160" cy="3246120"/>
          </a:xfrm>
          <a:prstGeom prst="roundRect">
            <a:avLst>
              <a:gd name="adj" fmla="val 2535"/>
            </a:avLst>
          </a:prstGeom>
          <a:solidFill>
            <a:srgbClr val="065A82"/>
          </a:solidFill>
          <a:ln/>
        </p:spPr>
      </p:sp>
      <p:sp>
        <p:nvSpPr>
          <p:cNvPr id="11" name="Text 9"/>
          <p:cNvSpPr/>
          <p:nvPr/>
        </p:nvSpPr>
        <p:spPr>
          <a:xfrm>
            <a:off x="6126480" y="1691640"/>
            <a:ext cx="5303520" cy="274320"/>
          </a:xfrm>
          <a:prstGeom prst="rect">
            <a:avLst/>
          </a:prstGeom>
          <a:noFill/>
          <a:ln/>
        </p:spPr>
        <p:txBody>
          <a:bodyPr wrap="square" lIns="0" tIns="0" rIns="0" bIns="0" rtlCol="0" anchor="ctr"/>
          <a:lstStyle/>
          <a:p>
            <a:pPr indent="0" marL="0">
              <a:buNone/>
            </a:pPr>
            <a:r>
              <a:rPr lang="en-US" sz="1100" b="1" spc="150" kern="0" dirty="0">
                <a:solidFill>
                  <a:srgbClr val="E8A13A"/>
                </a:solidFill>
                <a:latin typeface="Calibri" pitchFamily="34" charset="0"/>
                <a:ea typeface="Calibri" pitchFamily="34" charset="-122"/>
                <a:cs typeface="Calibri" pitchFamily="34" charset="-120"/>
              </a:rPr>
              <a:t>MY RESEARCH OBJECTIVE</a:t>
            </a:r>
            <a:endParaRPr lang="en-US" sz="1100" dirty="0"/>
          </a:p>
        </p:txBody>
      </p:sp>
      <p:sp>
        <p:nvSpPr>
          <p:cNvPr id="12" name="Text 10"/>
          <p:cNvSpPr/>
          <p:nvPr/>
        </p:nvSpPr>
        <p:spPr>
          <a:xfrm>
            <a:off x="6126480" y="1993392"/>
            <a:ext cx="5303520" cy="86868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mbria" pitchFamily="34" charset="0"/>
                <a:ea typeface="Cambria" pitchFamily="34" charset="-122"/>
                <a:cs typeface="Cambria" pitchFamily="34" charset="-120"/>
              </a:rPr>
              <a:t>Reconstruct the methodology and experimentally validate the implementation.</a:t>
            </a:r>
            <a:endParaRPr lang="en-US" sz="1700" dirty="0"/>
          </a:p>
        </p:txBody>
      </p:sp>
      <p:sp>
        <p:nvSpPr>
          <p:cNvPr id="13" name="Text 11"/>
          <p:cNvSpPr/>
          <p:nvPr/>
        </p:nvSpPr>
        <p:spPr>
          <a:xfrm>
            <a:off x="6126480" y="2971800"/>
            <a:ext cx="5303520" cy="169164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250" dirty="0">
                <a:solidFill>
                  <a:srgbClr val="E4EEF3"/>
                </a:solidFill>
                <a:latin typeface="Calibri" pitchFamily="34" charset="0"/>
                <a:ea typeface="Calibri" pitchFamily="34" charset="-122"/>
                <a:cs typeface="Calibri" pitchFamily="34" charset="-120"/>
              </a:rPr>
              <a:t>Reconstruct the reward function, radio energy model, and propagation model</a:t>
            </a:r>
            <a:endParaRPr lang="en-US" sz="1250" dirty="0"/>
          </a:p>
          <a:p>
            <a:pPr marL="342900" indent="-342900">
              <a:lnSpc>
                <a:spcPct val="130000"/>
              </a:lnSpc>
              <a:spcAft>
                <a:spcPts val="800"/>
              </a:spcAft>
              <a:buSzPct val="100000"/>
              <a:buChar char="✦"/>
            </a:pPr>
            <a:r>
              <a:rPr lang="en-US" sz="1250" dirty="0">
                <a:solidFill>
                  <a:srgbClr val="E4EEF3"/>
                </a:solidFill>
                <a:latin typeface="Calibri" pitchFamily="34" charset="0"/>
                <a:ea typeface="Calibri" pitchFamily="34" charset="-122"/>
                <a:cs typeface="Calibri" pitchFamily="34" charset="-120"/>
              </a:rPr>
              <a:t>Implement and validate on a reconstructed 45-node, 3D deployment</a:t>
            </a:r>
            <a:endParaRPr lang="en-US" sz="1250" dirty="0"/>
          </a:p>
          <a:p>
            <a:pPr marL="342900" indent="-342900">
              <a:lnSpc>
                <a:spcPct val="130000"/>
              </a:lnSpc>
              <a:spcAft>
                <a:spcPts val="800"/>
              </a:spcAft>
              <a:buSzPct val="100000"/>
              <a:buChar char="✦"/>
            </a:pPr>
            <a:r>
              <a:rPr lang="en-US" sz="1250" dirty="0">
                <a:solidFill>
                  <a:srgbClr val="E4EEF3"/>
                </a:solidFill>
                <a:latin typeface="Calibri" pitchFamily="34" charset="0"/>
                <a:ea typeface="Calibri" pitchFamily="34" charset="-122"/>
                <a:cs typeface="Calibri" pitchFamily="34" charset="-120"/>
              </a:rPr>
              <a:t>Compare completed rounds and delivered data against published values</a:t>
            </a:r>
            <a:endParaRPr lang="en-US" sz="1250" dirty="0"/>
          </a:p>
          <a:p>
            <a:pPr marL="342900" indent="-342900">
              <a:lnSpc>
                <a:spcPct val="130000"/>
              </a:lnSpc>
              <a:spcAft>
                <a:spcPts val="800"/>
              </a:spcAft>
              <a:buSzPct val="100000"/>
              <a:buChar char="✦"/>
            </a:pPr>
            <a:r>
              <a:rPr lang="en-US" sz="1250" dirty="0">
                <a:solidFill>
                  <a:srgbClr val="E4EEF3"/>
                </a:solidFill>
                <a:latin typeface="Calibri" pitchFamily="34" charset="0"/>
                <a:ea typeface="Calibri" pitchFamily="34" charset="-122"/>
                <a:cs typeface="Calibri" pitchFamily="34" charset="-120"/>
              </a:rPr>
              <a:t>Extend the study with a D0 sensitivity analysis</a:t>
            </a:r>
            <a:endParaRPr lang="en-US" sz="1250" dirty="0"/>
          </a:p>
        </p:txBody>
      </p:sp>
      <p:sp>
        <p:nvSpPr>
          <p:cNvPr id="14" name="Shape 12"/>
          <p:cNvSpPr/>
          <p:nvPr/>
        </p:nvSpPr>
        <p:spPr>
          <a:xfrm>
            <a:off x="457200" y="4983480"/>
            <a:ext cx="11247120" cy="1051560"/>
          </a:xfrm>
          <a:prstGeom prst="roundRect">
            <a:avLst>
              <a:gd name="adj" fmla="val 7826"/>
            </a:avLst>
          </a:prstGeom>
          <a:solidFill>
            <a:srgbClr val="FDF3E3"/>
          </a:solidFill>
          <a:ln w="15875">
            <a:solidFill>
              <a:srgbClr val="E8A13A"/>
            </a:solidFill>
            <a:prstDash val="solid"/>
          </a:ln>
        </p:spPr>
      </p:sp>
      <p:sp>
        <p:nvSpPr>
          <p:cNvPr id="15" name="Text 13"/>
          <p:cNvSpPr/>
          <p:nvPr/>
        </p:nvSpPr>
        <p:spPr>
          <a:xfrm>
            <a:off x="640080" y="4983480"/>
            <a:ext cx="548640" cy="1051560"/>
          </a:xfrm>
          <a:prstGeom prst="rect">
            <a:avLst/>
          </a:prstGeom>
          <a:noFill/>
          <a:ln/>
        </p:spPr>
        <p:txBody>
          <a:bodyPr wrap="square" lIns="0" tIns="0" rIns="0" bIns="0" rtlCol="0" anchor="ctr"/>
          <a:lstStyle/>
          <a:p>
            <a:pPr algn="ctr" indent="0" marL="0">
              <a:buNone/>
            </a:pPr>
            <a:r>
              <a:rPr lang="en-US" sz="2600" dirty="0">
                <a:solidFill>
                  <a:srgbClr val="E8A13A"/>
                </a:solidFill>
                <a:latin typeface="Arial" pitchFamily="34" charset="0"/>
                <a:ea typeface="Arial" pitchFamily="34" charset="-122"/>
                <a:cs typeface="Arial" pitchFamily="34" charset="-120"/>
              </a:rPr>
              <a:t>⚠</a:t>
            </a:r>
            <a:endParaRPr lang="en-US" sz="2600" dirty="0"/>
          </a:p>
        </p:txBody>
      </p:sp>
      <p:sp>
        <p:nvSpPr>
          <p:cNvPr id="16" name="Text 14"/>
          <p:cNvSpPr/>
          <p:nvPr/>
        </p:nvSpPr>
        <p:spPr>
          <a:xfrm>
            <a:off x="1234440" y="4983480"/>
            <a:ext cx="10241280" cy="1051560"/>
          </a:xfrm>
          <a:prstGeom prst="rect">
            <a:avLst/>
          </a:prstGeom>
          <a:noFill/>
          <a:ln/>
        </p:spPr>
        <p:txBody>
          <a:bodyPr wrap="square" lIns="0" tIns="0" rIns="0" bIns="0" rtlCol="0" anchor="ctr"/>
          <a:lstStyle/>
          <a:p>
            <a:pPr indent="0" marL="0">
              <a:lnSpc>
                <a:spcPct val="120000"/>
              </a:lnSpc>
              <a:buNone/>
            </a:pPr>
            <a:r>
              <a:rPr lang="en-US" sz="1350" b="1" i="1" dirty="0">
                <a:solidFill>
                  <a:srgbClr val="6B4A12"/>
                </a:solidFill>
                <a:latin typeface="Calibri" pitchFamily="34" charset="0"/>
                <a:ea typeface="Calibri" pitchFamily="34" charset="-122"/>
                <a:cs typeface="Calibri" pitchFamily="34" charset="-120"/>
              </a:rPr>
              <a:t>This work is a methodology-faithful reconstruction, not an exact numerical replication, because the original topology / coordinate information and some implementation details were unavailable.</a:t>
            </a:r>
            <a:endParaRPr lang="en-US" sz="1350" dirty="0"/>
          </a:p>
        </p:txBody>
      </p:sp>
      <p:sp>
        <p:nvSpPr>
          <p:cNvPr id="17" name="Text 15"/>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18" name="Text 16"/>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Reconstructed Methodology Workflow</a:t>
            </a:r>
            <a:endParaRPr lang="en-US" sz="3000" dirty="0"/>
          </a:p>
        </p:txBody>
      </p:sp>
      <p:sp>
        <p:nvSpPr>
          <p:cNvPr id="4" name="Shape 2"/>
          <p:cNvSpPr/>
          <p:nvPr/>
        </p:nvSpPr>
        <p:spPr>
          <a:xfrm>
            <a:off x="548640" y="1463040"/>
            <a:ext cx="5212080" cy="621792"/>
          </a:xfrm>
          <a:prstGeom prst="roundRect">
            <a:avLst>
              <a:gd name="adj" fmla="val 10294"/>
            </a:avLst>
          </a:prstGeom>
          <a:solidFill>
            <a:srgbClr val="F5F9FB"/>
          </a:solidFill>
          <a:ln w="12700">
            <a:solidFill>
              <a:srgbClr val="D8E4E9"/>
            </a:solidFill>
            <a:prstDash val="solid"/>
          </a:ln>
        </p:spPr>
      </p:sp>
      <p:sp>
        <p:nvSpPr>
          <p:cNvPr id="5" name="Shape 3"/>
          <p:cNvSpPr/>
          <p:nvPr/>
        </p:nvSpPr>
        <p:spPr>
          <a:xfrm>
            <a:off x="640080" y="1536192"/>
            <a:ext cx="310896" cy="310896"/>
          </a:xfrm>
          <a:prstGeom prst="ellipse">
            <a:avLst/>
          </a:prstGeom>
          <a:solidFill>
            <a:srgbClr val="1C7293"/>
          </a:solidFill>
          <a:ln/>
        </p:spPr>
      </p:sp>
      <p:sp>
        <p:nvSpPr>
          <p:cNvPr id="6" name="Text 4"/>
          <p:cNvSpPr/>
          <p:nvPr/>
        </p:nvSpPr>
        <p:spPr>
          <a:xfrm>
            <a:off x="64008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78992" y="1463040"/>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45-node 3D WSN deployment</a:t>
            </a:r>
            <a:endParaRPr lang="en-US" sz="1300" dirty="0"/>
          </a:p>
        </p:txBody>
      </p:sp>
      <p:sp>
        <p:nvSpPr>
          <p:cNvPr id="8" name="Text 6"/>
          <p:cNvSpPr/>
          <p:nvPr/>
        </p:nvSpPr>
        <p:spPr>
          <a:xfrm>
            <a:off x="3017520" y="2084832"/>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9" name="Shape 7"/>
          <p:cNvSpPr/>
          <p:nvPr/>
        </p:nvSpPr>
        <p:spPr>
          <a:xfrm>
            <a:off x="548640" y="2304288"/>
            <a:ext cx="5212080" cy="621792"/>
          </a:xfrm>
          <a:prstGeom prst="roundRect">
            <a:avLst>
              <a:gd name="adj" fmla="val 10294"/>
            </a:avLst>
          </a:prstGeom>
          <a:solidFill>
            <a:srgbClr val="F5F9FB"/>
          </a:solidFill>
          <a:ln w="12700">
            <a:solidFill>
              <a:srgbClr val="D8E4E9"/>
            </a:solidFill>
            <a:prstDash val="solid"/>
          </a:ln>
        </p:spPr>
      </p:sp>
      <p:sp>
        <p:nvSpPr>
          <p:cNvPr id="10" name="Shape 8"/>
          <p:cNvSpPr/>
          <p:nvPr/>
        </p:nvSpPr>
        <p:spPr>
          <a:xfrm>
            <a:off x="640080" y="2377440"/>
            <a:ext cx="310896" cy="310896"/>
          </a:xfrm>
          <a:prstGeom prst="ellipse">
            <a:avLst/>
          </a:prstGeom>
          <a:solidFill>
            <a:srgbClr val="1C7293"/>
          </a:solidFill>
          <a:ln/>
        </p:spPr>
      </p:sp>
      <p:sp>
        <p:nvSpPr>
          <p:cNvPr id="11" name="Text 9"/>
          <p:cNvSpPr/>
          <p:nvPr/>
        </p:nvSpPr>
        <p:spPr>
          <a:xfrm>
            <a:off x="640080" y="2377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78992" y="2304288"/>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Network construction</a:t>
            </a:r>
            <a:endParaRPr lang="en-US" sz="1300" dirty="0"/>
          </a:p>
        </p:txBody>
      </p:sp>
      <p:sp>
        <p:nvSpPr>
          <p:cNvPr id="13" name="Text 11"/>
          <p:cNvSpPr/>
          <p:nvPr/>
        </p:nvSpPr>
        <p:spPr>
          <a:xfrm>
            <a:off x="3017520" y="2926080"/>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14" name="Shape 12"/>
          <p:cNvSpPr/>
          <p:nvPr/>
        </p:nvSpPr>
        <p:spPr>
          <a:xfrm>
            <a:off x="548640" y="3145536"/>
            <a:ext cx="5212080" cy="621792"/>
          </a:xfrm>
          <a:prstGeom prst="roundRect">
            <a:avLst>
              <a:gd name="adj" fmla="val 10294"/>
            </a:avLst>
          </a:prstGeom>
          <a:solidFill>
            <a:srgbClr val="F5F9FB"/>
          </a:solidFill>
          <a:ln w="12700">
            <a:solidFill>
              <a:srgbClr val="D8E4E9"/>
            </a:solidFill>
            <a:prstDash val="solid"/>
          </a:ln>
        </p:spPr>
      </p:sp>
      <p:sp>
        <p:nvSpPr>
          <p:cNvPr id="15" name="Shape 13"/>
          <p:cNvSpPr/>
          <p:nvPr/>
        </p:nvSpPr>
        <p:spPr>
          <a:xfrm>
            <a:off x="640080" y="3218688"/>
            <a:ext cx="310896" cy="310896"/>
          </a:xfrm>
          <a:prstGeom prst="ellipse">
            <a:avLst/>
          </a:prstGeom>
          <a:solidFill>
            <a:srgbClr val="1C7293"/>
          </a:solidFill>
          <a:ln/>
        </p:spPr>
      </p:sp>
      <p:sp>
        <p:nvSpPr>
          <p:cNvPr id="16" name="Text 14"/>
          <p:cNvSpPr/>
          <p:nvPr/>
        </p:nvSpPr>
        <p:spPr>
          <a:xfrm>
            <a:off x="640080" y="3218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078992" y="3145536"/>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Communication links</a:t>
            </a:r>
            <a:endParaRPr lang="en-US" sz="1300" dirty="0"/>
          </a:p>
        </p:txBody>
      </p:sp>
      <p:sp>
        <p:nvSpPr>
          <p:cNvPr id="18" name="Text 16"/>
          <p:cNvSpPr/>
          <p:nvPr/>
        </p:nvSpPr>
        <p:spPr>
          <a:xfrm>
            <a:off x="3017520" y="3767328"/>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19" name="Shape 17"/>
          <p:cNvSpPr/>
          <p:nvPr/>
        </p:nvSpPr>
        <p:spPr>
          <a:xfrm>
            <a:off x="548640" y="3986784"/>
            <a:ext cx="5212080" cy="621792"/>
          </a:xfrm>
          <a:prstGeom prst="roundRect">
            <a:avLst>
              <a:gd name="adj" fmla="val 10294"/>
            </a:avLst>
          </a:prstGeom>
          <a:solidFill>
            <a:srgbClr val="F5F9FB"/>
          </a:solidFill>
          <a:ln w="12700">
            <a:solidFill>
              <a:srgbClr val="D8E4E9"/>
            </a:solidFill>
            <a:prstDash val="solid"/>
          </a:ln>
        </p:spPr>
      </p:sp>
      <p:sp>
        <p:nvSpPr>
          <p:cNvPr id="20" name="Shape 18"/>
          <p:cNvSpPr/>
          <p:nvPr/>
        </p:nvSpPr>
        <p:spPr>
          <a:xfrm>
            <a:off x="640080" y="4059936"/>
            <a:ext cx="310896" cy="310896"/>
          </a:xfrm>
          <a:prstGeom prst="ellipse">
            <a:avLst/>
          </a:prstGeom>
          <a:solidFill>
            <a:srgbClr val="1C7293"/>
          </a:solidFill>
          <a:ln/>
        </p:spPr>
      </p:sp>
      <p:sp>
        <p:nvSpPr>
          <p:cNvPr id="21" name="Text 19"/>
          <p:cNvSpPr/>
          <p:nvPr/>
        </p:nvSpPr>
        <p:spPr>
          <a:xfrm>
            <a:off x="640080" y="4059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078992" y="3986784"/>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Candidate routing paths</a:t>
            </a:r>
            <a:endParaRPr lang="en-US" sz="1300" dirty="0"/>
          </a:p>
        </p:txBody>
      </p:sp>
      <p:sp>
        <p:nvSpPr>
          <p:cNvPr id="23" name="Text 21"/>
          <p:cNvSpPr/>
          <p:nvPr/>
        </p:nvSpPr>
        <p:spPr>
          <a:xfrm>
            <a:off x="3017520" y="4608576"/>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24" name="Shape 22"/>
          <p:cNvSpPr/>
          <p:nvPr/>
        </p:nvSpPr>
        <p:spPr>
          <a:xfrm>
            <a:off x="548640" y="4828032"/>
            <a:ext cx="5212080" cy="621792"/>
          </a:xfrm>
          <a:prstGeom prst="roundRect">
            <a:avLst>
              <a:gd name="adj" fmla="val 10294"/>
            </a:avLst>
          </a:prstGeom>
          <a:solidFill>
            <a:srgbClr val="065A82"/>
          </a:solidFill>
          <a:ln w="12700">
            <a:solidFill>
              <a:srgbClr val="065A82"/>
            </a:solidFill>
            <a:prstDash val="solid"/>
          </a:ln>
        </p:spPr>
      </p:sp>
      <p:sp>
        <p:nvSpPr>
          <p:cNvPr id="25" name="Shape 23"/>
          <p:cNvSpPr/>
          <p:nvPr/>
        </p:nvSpPr>
        <p:spPr>
          <a:xfrm>
            <a:off x="640080" y="4901184"/>
            <a:ext cx="310896" cy="310896"/>
          </a:xfrm>
          <a:prstGeom prst="ellipse">
            <a:avLst/>
          </a:prstGeom>
          <a:solidFill>
            <a:srgbClr val="E8A13A"/>
          </a:solidFill>
          <a:ln/>
        </p:spPr>
      </p:sp>
      <p:sp>
        <p:nvSpPr>
          <p:cNvPr id="26" name="Text 24"/>
          <p:cNvSpPr/>
          <p:nvPr/>
        </p:nvSpPr>
        <p:spPr>
          <a:xfrm>
            <a:off x="640080" y="4901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078992" y="4828032"/>
            <a:ext cx="457200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Q-learning route evaluation</a:t>
            </a:r>
            <a:endParaRPr lang="en-US" sz="1300" dirty="0"/>
          </a:p>
        </p:txBody>
      </p:sp>
      <p:sp>
        <p:nvSpPr>
          <p:cNvPr id="28" name="Shape 26"/>
          <p:cNvSpPr/>
          <p:nvPr/>
        </p:nvSpPr>
        <p:spPr>
          <a:xfrm>
            <a:off x="6400800" y="1463040"/>
            <a:ext cx="5212080" cy="621792"/>
          </a:xfrm>
          <a:prstGeom prst="roundRect">
            <a:avLst>
              <a:gd name="adj" fmla="val 10294"/>
            </a:avLst>
          </a:prstGeom>
          <a:solidFill>
            <a:srgbClr val="F5F9FB"/>
          </a:solidFill>
          <a:ln w="12700">
            <a:solidFill>
              <a:srgbClr val="D8E4E9"/>
            </a:solidFill>
            <a:prstDash val="solid"/>
          </a:ln>
        </p:spPr>
      </p:sp>
      <p:sp>
        <p:nvSpPr>
          <p:cNvPr id="29" name="Shape 27"/>
          <p:cNvSpPr/>
          <p:nvPr/>
        </p:nvSpPr>
        <p:spPr>
          <a:xfrm>
            <a:off x="6492240" y="1536192"/>
            <a:ext cx="310896" cy="310896"/>
          </a:xfrm>
          <a:prstGeom prst="ellipse">
            <a:avLst/>
          </a:prstGeom>
          <a:solidFill>
            <a:srgbClr val="1C7293"/>
          </a:solidFill>
          <a:ln/>
        </p:spPr>
      </p:sp>
      <p:sp>
        <p:nvSpPr>
          <p:cNvPr id="30" name="Text 28"/>
          <p:cNvSpPr/>
          <p:nvPr/>
        </p:nvSpPr>
        <p:spPr>
          <a:xfrm>
            <a:off x="649224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p:nvPr/>
        </p:nvSpPr>
        <p:spPr>
          <a:xfrm>
            <a:off x="6931152" y="1463040"/>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Energy feasibility check</a:t>
            </a:r>
            <a:endParaRPr lang="en-US" sz="1300" dirty="0"/>
          </a:p>
        </p:txBody>
      </p:sp>
      <p:sp>
        <p:nvSpPr>
          <p:cNvPr id="32" name="Text 30"/>
          <p:cNvSpPr/>
          <p:nvPr/>
        </p:nvSpPr>
        <p:spPr>
          <a:xfrm>
            <a:off x="8869680" y="2084832"/>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6400800" y="2304288"/>
            <a:ext cx="5212080" cy="621792"/>
          </a:xfrm>
          <a:prstGeom prst="roundRect">
            <a:avLst>
              <a:gd name="adj" fmla="val 10294"/>
            </a:avLst>
          </a:prstGeom>
          <a:solidFill>
            <a:srgbClr val="065A82"/>
          </a:solidFill>
          <a:ln w="12700">
            <a:solidFill>
              <a:srgbClr val="065A82"/>
            </a:solidFill>
            <a:prstDash val="solid"/>
          </a:ln>
        </p:spPr>
      </p:sp>
      <p:sp>
        <p:nvSpPr>
          <p:cNvPr id="34" name="Shape 32"/>
          <p:cNvSpPr/>
          <p:nvPr/>
        </p:nvSpPr>
        <p:spPr>
          <a:xfrm>
            <a:off x="6492240" y="2377440"/>
            <a:ext cx="310896" cy="310896"/>
          </a:xfrm>
          <a:prstGeom prst="ellipse">
            <a:avLst/>
          </a:prstGeom>
          <a:solidFill>
            <a:srgbClr val="E8A13A"/>
          </a:solidFill>
          <a:ln/>
        </p:spPr>
      </p:sp>
      <p:sp>
        <p:nvSpPr>
          <p:cNvPr id="35" name="Text 33"/>
          <p:cNvSpPr/>
          <p:nvPr/>
        </p:nvSpPr>
        <p:spPr>
          <a:xfrm>
            <a:off x="6492240" y="2377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6" name="Text 34"/>
          <p:cNvSpPr/>
          <p:nvPr/>
        </p:nvSpPr>
        <p:spPr>
          <a:xfrm>
            <a:off x="6931152" y="2304288"/>
            <a:ext cx="457200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Q-value update</a:t>
            </a:r>
            <a:endParaRPr lang="en-US" sz="1300" dirty="0"/>
          </a:p>
        </p:txBody>
      </p:sp>
      <p:sp>
        <p:nvSpPr>
          <p:cNvPr id="37" name="Text 35"/>
          <p:cNvSpPr/>
          <p:nvPr/>
        </p:nvSpPr>
        <p:spPr>
          <a:xfrm>
            <a:off x="8869680" y="2926080"/>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400800" y="3145536"/>
            <a:ext cx="5212080" cy="621792"/>
          </a:xfrm>
          <a:prstGeom prst="roundRect">
            <a:avLst>
              <a:gd name="adj" fmla="val 10294"/>
            </a:avLst>
          </a:prstGeom>
          <a:solidFill>
            <a:srgbClr val="F5F9FB"/>
          </a:solidFill>
          <a:ln w="12700">
            <a:solidFill>
              <a:srgbClr val="D8E4E9"/>
            </a:solidFill>
            <a:prstDash val="solid"/>
          </a:ln>
        </p:spPr>
      </p:sp>
      <p:sp>
        <p:nvSpPr>
          <p:cNvPr id="39" name="Shape 37"/>
          <p:cNvSpPr/>
          <p:nvPr/>
        </p:nvSpPr>
        <p:spPr>
          <a:xfrm>
            <a:off x="6492240" y="3218688"/>
            <a:ext cx="310896" cy="310896"/>
          </a:xfrm>
          <a:prstGeom prst="ellipse">
            <a:avLst/>
          </a:prstGeom>
          <a:solidFill>
            <a:srgbClr val="1C7293"/>
          </a:solidFill>
          <a:ln/>
        </p:spPr>
      </p:sp>
      <p:sp>
        <p:nvSpPr>
          <p:cNvPr id="40" name="Text 38"/>
          <p:cNvSpPr/>
          <p:nvPr/>
        </p:nvSpPr>
        <p:spPr>
          <a:xfrm>
            <a:off x="6492240" y="3218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1" name="Text 39"/>
          <p:cNvSpPr/>
          <p:nvPr/>
        </p:nvSpPr>
        <p:spPr>
          <a:xfrm>
            <a:off x="6931152" y="3145536"/>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Route selection</a:t>
            </a:r>
            <a:endParaRPr lang="en-US" sz="1300" dirty="0"/>
          </a:p>
        </p:txBody>
      </p:sp>
      <p:sp>
        <p:nvSpPr>
          <p:cNvPr id="42" name="Text 40"/>
          <p:cNvSpPr/>
          <p:nvPr/>
        </p:nvSpPr>
        <p:spPr>
          <a:xfrm>
            <a:off x="8869680" y="3767328"/>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400800" y="3986784"/>
            <a:ext cx="5212080" cy="621792"/>
          </a:xfrm>
          <a:prstGeom prst="roundRect">
            <a:avLst>
              <a:gd name="adj" fmla="val 10294"/>
            </a:avLst>
          </a:prstGeom>
          <a:solidFill>
            <a:srgbClr val="F5F9FB"/>
          </a:solidFill>
          <a:ln w="12700">
            <a:solidFill>
              <a:srgbClr val="D8E4E9"/>
            </a:solidFill>
            <a:prstDash val="solid"/>
          </a:ln>
        </p:spPr>
      </p:sp>
      <p:sp>
        <p:nvSpPr>
          <p:cNvPr id="44" name="Shape 42"/>
          <p:cNvSpPr/>
          <p:nvPr/>
        </p:nvSpPr>
        <p:spPr>
          <a:xfrm>
            <a:off x="6492240" y="4059936"/>
            <a:ext cx="310896" cy="310896"/>
          </a:xfrm>
          <a:prstGeom prst="ellipse">
            <a:avLst/>
          </a:prstGeom>
          <a:solidFill>
            <a:srgbClr val="1C7293"/>
          </a:solidFill>
          <a:ln/>
        </p:spPr>
      </p:sp>
      <p:sp>
        <p:nvSpPr>
          <p:cNvPr id="45" name="Text 43"/>
          <p:cNvSpPr/>
          <p:nvPr/>
        </p:nvSpPr>
        <p:spPr>
          <a:xfrm>
            <a:off x="6492240" y="4059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6" name="Text 44"/>
          <p:cNvSpPr/>
          <p:nvPr/>
        </p:nvSpPr>
        <p:spPr>
          <a:xfrm>
            <a:off x="6931152" y="3986784"/>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Energy deduction</a:t>
            </a:r>
            <a:endParaRPr lang="en-US" sz="1300" dirty="0"/>
          </a:p>
        </p:txBody>
      </p:sp>
      <p:sp>
        <p:nvSpPr>
          <p:cNvPr id="47" name="Text 45"/>
          <p:cNvSpPr/>
          <p:nvPr/>
        </p:nvSpPr>
        <p:spPr>
          <a:xfrm>
            <a:off x="8869680" y="4608576"/>
            <a:ext cx="274320" cy="219456"/>
          </a:xfrm>
          <a:prstGeom prst="rect">
            <a:avLst/>
          </a:prstGeom>
          <a:noFill/>
          <a:ln/>
        </p:spPr>
        <p:txBody>
          <a:bodyPr wrap="square" lIns="0" tIns="0" rIns="0" bIns="0" rtlCol="0" anchor="ctr"/>
          <a:lstStyle/>
          <a:p>
            <a:pPr algn="ctr" indent="0" marL="0">
              <a:buNone/>
            </a:pPr>
            <a:r>
              <a:rPr lang="en-US" sz="1300" dirty="0">
                <a:solidFill>
                  <a:srgbClr val="1C7293"/>
                </a:solidFill>
                <a:latin typeface="Arial" pitchFamily="34" charset="0"/>
                <a:ea typeface="Arial" pitchFamily="34" charset="-122"/>
                <a:cs typeface="Arial" pitchFamily="34" charset="-120"/>
              </a:rPr>
              <a:t>↓</a:t>
            </a:r>
            <a:endParaRPr lang="en-US" sz="1300" dirty="0"/>
          </a:p>
        </p:txBody>
      </p:sp>
      <p:sp>
        <p:nvSpPr>
          <p:cNvPr id="48" name="Shape 46"/>
          <p:cNvSpPr/>
          <p:nvPr/>
        </p:nvSpPr>
        <p:spPr>
          <a:xfrm>
            <a:off x="6400800" y="4828032"/>
            <a:ext cx="5212080" cy="621792"/>
          </a:xfrm>
          <a:prstGeom prst="roundRect">
            <a:avLst>
              <a:gd name="adj" fmla="val 10294"/>
            </a:avLst>
          </a:prstGeom>
          <a:solidFill>
            <a:srgbClr val="F5F9FB"/>
          </a:solidFill>
          <a:ln w="12700">
            <a:solidFill>
              <a:srgbClr val="D8E4E9"/>
            </a:solidFill>
            <a:prstDash val="solid"/>
          </a:ln>
        </p:spPr>
      </p:sp>
      <p:sp>
        <p:nvSpPr>
          <p:cNvPr id="49" name="Shape 47"/>
          <p:cNvSpPr/>
          <p:nvPr/>
        </p:nvSpPr>
        <p:spPr>
          <a:xfrm>
            <a:off x="6492240" y="4901184"/>
            <a:ext cx="310896" cy="310896"/>
          </a:xfrm>
          <a:prstGeom prst="ellipse">
            <a:avLst/>
          </a:prstGeom>
          <a:solidFill>
            <a:srgbClr val="1C7293"/>
          </a:solidFill>
          <a:ln/>
        </p:spPr>
      </p:sp>
      <p:sp>
        <p:nvSpPr>
          <p:cNvPr id="50" name="Text 48"/>
          <p:cNvSpPr/>
          <p:nvPr/>
        </p:nvSpPr>
        <p:spPr>
          <a:xfrm>
            <a:off x="6492240" y="4901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1" name="Text 49"/>
          <p:cNvSpPr/>
          <p:nvPr/>
        </p:nvSpPr>
        <p:spPr>
          <a:xfrm>
            <a:off x="6931152" y="4828032"/>
            <a:ext cx="4572000" cy="621792"/>
          </a:xfrm>
          <a:prstGeom prst="rect">
            <a:avLst/>
          </a:prstGeom>
          <a:noFill/>
          <a:ln/>
        </p:spPr>
        <p:txBody>
          <a:bodyPr wrap="square" lIns="0" tIns="0" rIns="0" bIns="0" rtlCol="0" anchor="ctr"/>
          <a:lstStyle/>
          <a:p>
            <a:pPr indent="0" marL="0">
              <a:buNone/>
            </a:pPr>
            <a:r>
              <a:rPr lang="en-US" sz="1300" b="1" dirty="0">
                <a:solidFill>
                  <a:srgbClr val="16242C"/>
                </a:solidFill>
                <a:latin typeface="Calibri" pitchFamily="34" charset="0"/>
                <a:ea typeface="Calibri" pitchFamily="34" charset="-122"/>
                <a:cs typeface="Calibri" pitchFamily="34" charset="-120"/>
              </a:rPr>
              <a:t>Next transmission round</a:t>
            </a:r>
            <a:endParaRPr lang="en-US" sz="1300" dirty="0"/>
          </a:p>
        </p:txBody>
      </p:sp>
      <p:sp>
        <p:nvSpPr>
          <p:cNvPr id="52" name="Shape 50"/>
          <p:cNvSpPr/>
          <p:nvPr/>
        </p:nvSpPr>
        <p:spPr>
          <a:xfrm>
            <a:off x="3154680" y="5449824"/>
            <a:ext cx="5852160" cy="914"/>
          </a:xfrm>
          <a:prstGeom prst="bentConnector2">
            <a:avLst/>
          </a:prstGeom>
          <a:noFill/>
          <a:ln w="19050">
            <a:solidFill>
              <a:srgbClr val="1C7293"/>
            </a:solidFill>
            <a:prstDash val="solid"/>
            <a:tailEnd type="triangle"/>
          </a:ln>
        </p:spPr>
      </p:sp>
      <p:sp>
        <p:nvSpPr>
          <p:cNvPr id="53" name="Shape 51"/>
          <p:cNvSpPr/>
          <p:nvPr/>
        </p:nvSpPr>
        <p:spPr>
          <a:xfrm>
            <a:off x="457200" y="5769864"/>
            <a:ext cx="11247120" cy="777240"/>
          </a:xfrm>
          <a:prstGeom prst="roundRect">
            <a:avLst>
              <a:gd name="adj" fmla="val 9412"/>
            </a:avLst>
          </a:prstGeom>
          <a:solidFill>
            <a:srgbClr val="0B2E44"/>
          </a:solidFill>
          <a:ln/>
        </p:spPr>
      </p:sp>
      <p:sp>
        <p:nvSpPr>
          <p:cNvPr id="54" name="Text 52"/>
          <p:cNvSpPr/>
          <p:nvPr/>
        </p:nvSpPr>
        <p:spPr>
          <a:xfrm>
            <a:off x="731520" y="5769864"/>
            <a:ext cx="10698480" cy="777240"/>
          </a:xfrm>
          <a:prstGeom prst="rect">
            <a:avLst/>
          </a:prstGeom>
          <a:noFill/>
          <a:ln/>
        </p:spPr>
        <p:txBody>
          <a:bodyPr wrap="square" lIns="0" tIns="0" rIns="0" bIns="0" rtlCol="0" anchor="ctr"/>
          <a:lstStyle/>
          <a:p>
            <a:pPr indent="0" marL="0">
              <a:buNone/>
            </a:pPr>
            <a:r>
              <a:rPr lang="en-US" sz="1250" b="1" dirty="0">
                <a:solidFill>
                  <a:srgbClr val="E8A13A"/>
                </a:solidFill>
                <a:latin typeface="Calibri" pitchFamily="34" charset="0"/>
                <a:ea typeface="Calibri" pitchFamily="34" charset="-122"/>
                <a:cs typeface="Calibri" pitchFamily="34" charset="-120"/>
              </a:rPr>
              <a:t>Cyclical process:  </a:t>
            </a:r>
            <a:pPr indent="0" marL="0">
              <a:buNone/>
            </a:pPr>
            <a:r>
              <a:rPr lang="en-US" sz="1250" dirty="0">
                <a:solidFill>
                  <a:srgbClr val="E4EEF3"/>
                </a:solidFill>
                <a:latin typeface="Calibri" pitchFamily="34" charset="0"/>
                <a:ea typeface="Calibri" pitchFamily="34" charset="-122"/>
                <a:cs typeface="Calibri" pitchFamily="34" charset="-120"/>
              </a:rPr>
              <a:t>steps 1–3 build the network once; steps 4–10 repeat every transmission round until no feasible route remains.</a:t>
            </a:r>
            <a:endParaRPr lang="en-US" sz="1250" dirty="0"/>
          </a:p>
        </p:txBody>
      </p:sp>
      <p:sp>
        <p:nvSpPr>
          <p:cNvPr id="55" name="Text 53"/>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56" name="Text 54"/>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SYSTEM MODEL</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System Model and Parameters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0332720" cy="914400"/>
        </p:xfrm>
        <a:graphic>
          <a:graphicData uri="http://schemas.openxmlformats.org/drawingml/2006/table">
            <a:tbl>
              <a:tblPr/>
              <a:tblGrid>
                <a:gridCol w="4023360"/>
                <a:gridCol w="2468880"/>
                <a:gridCol w="3840480"/>
              </a:tblGrid>
              <a:tr h="3063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Total nodes</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Sensor nodes</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Sink</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Deployment volume</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16 × 13 × 2.5 m</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Initial energy</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0.5 J / node</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Packet size</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512 bits</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2E7D5B"/>
                          </a:solidFill>
                          <a:latin typeface="Calibri" pitchFamily="34" charset="0"/>
                          <a:ea typeface="Calibri" pitchFamily="34" charset="-122"/>
                          <a:cs typeface="Calibri" pitchFamily="34" charset="-120"/>
                        </a:rPr>
                        <a:t>Paper / reference setup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E_elec</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5 × 10⁻⁸ J/bit</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5C7684"/>
                          </a:solidFill>
                          <a:latin typeface="Calibri" pitchFamily="34" charset="0"/>
                          <a:ea typeface="Calibri" pitchFamily="34" charset="-122"/>
                          <a:cs typeface="Calibri" pitchFamily="34" charset="-120"/>
                        </a:rPr>
                        <a:t>Radio energy model</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E_amp</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1 × 10⁻¹⁰ J/bit/m²</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5C7684"/>
                          </a:solidFill>
                          <a:latin typeface="Calibri" pitchFamily="34" charset="0"/>
                          <a:ea typeface="Calibri" pitchFamily="34" charset="-122"/>
                          <a:cs typeface="Calibri" pitchFamily="34" charset="-120"/>
                        </a:rPr>
                        <a:t>Radio energy model</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Coordinate seed</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E8A13A"/>
                          </a:solidFill>
                          <a:latin typeface="Calibri" pitchFamily="34" charset="0"/>
                          <a:ea typeface="Calibri" pitchFamily="34" charset="-122"/>
                          <a:cs typeface="Calibri" pitchFamily="34" charset="-120"/>
                        </a:rPr>
                        <a:t>Our reconstruction</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Communication range</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7.0 m</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E8A13A"/>
                          </a:solidFill>
                          <a:latin typeface="Calibri" pitchFamily="34" charset="0"/>
                          <a:ea typeface="Calibri" pitchFamily="34" charset="-122"/>
                          <a:cs typeface="Calibri" pitchFamily="34" charset="-120"/>
                        </a:rPr>
                        <a:t>Our assumption</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D₀ (propagation threshold)</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4.0 m</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indent="0" marL="0">
                        <a:buNone/>
                      </a:pPr>
                      <a:r>
                        <a:rPr lang="en-US" sz="1150" i="1" dirty="0">
                          <a:solidFill>
                            <a:srgbClr val="E8A13A"/>
                          </a:solidFill>
                          <a:latin typeface="Calibri" pitchFamily="34" charset="0"/>
                          <a:ea typeface="Calibri" pitchFamily="34" charset="-122"/>
                          <a:cs typeface="Calibri" pitchFamily="34" charset="-120"/>
                        </a:rPr>
                        <a:t>Our assumption</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Max hops / max stored paths</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6 / 20 per source</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indent="0" marL="0">
                        <a:buNone/>
                      </a:pPr>
                      <a:r>
                        <a:rPr lang="en-US" sz="1150" i="1" dirty="0">
                          <a:solidFill>
                            <a:srgbClr val="5C7684"/>
                          </a:solidFill>
                          <a:latin typeface="Calibri" pitchFamily="34" charset="0"/>
                          <a:ea typeface="Calibri" pitchFamily="34" charset="-122"/>
                          <a:cs typeface="Calibri" pitchFamily="34" charset="-120"/>
                        </a:rPr>
                        <a:t>Routing-table limit</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bl>
          </a:graphicData>
        </a:graphic>
      </p:graphicFrame>
      <p:sp>
        <p:nvSpPr>
          <p:cNvPr id="5" name="Shape 2"/>
          <p:cNvSpPr/>
          <p:nvPr/>
        </p:nvSpPr>
        <p:spPr>
          <a:xfrm>
            <a:off x="457200" y="6263640"/>
            <a:ext cx="1737360" cy="310896"/>
          </a:xfrm>
          <a:prstGeom prst="roundRect">
            <a:avLst>
              <a:gd name="adj" fmla="val 17647"/>
            </a:avLst>
          </a:prstGeom>
          <a:solidFill>
            <a:srgbClr val="2E7D5B"/>
          </a:solidFill>
          <a:ln/>
        </p:spPr>
      </p:sp>
      <p:sp>
        <p:nvSpPr>
          <p:cNvPr id="6" name="Text 3"/>
          <p:cNvSpPr/>
          <p:nvPr/>
        </p:nvSpPr>
        <p:spPr>
          <a:xfrm>
            <a:off x="457200" y="6263640"/>
            <a:ext cx="17373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Paper / reference</a:t>
            </a:r>
            <a:endParaRPr lang="en-US" sz="1100" dirty="0"/>
          </a:p>
        </p:txBody>
      </p:sp>
      <p:sp>
        <p:nvSpPr>
          <p:cNvPr id="7" name="Shape 4"/>
          <p:cNvSpPr/>
          <p:nvPr/>
        </p:nvSpPr>
        <p:spPr>
          <a:xfrm>
            <a:off x="2331720" y="6263640"/>
            <a:ext cx="2286000" cy="310896"/>
          </a:xfrm>
          <a:prstGeom prst="roundRect">
            <a:avLst>
              <a:gd name="adj" fmla="val 17647"/>
            </a:avLst>
          </a:prstGeom>
          <a:solidFill>
            <a:srgbClr val="E8A13A"/>
          </a:solidFill>
          <a:ln/>
        </p:spPr>
      </p:sp>
      <p:sp>
        <p:nvSpPr>
          <p:cNvPr id="8" name="Text 5"/>
          <p:cNvSpPr/>
          <p:nvPr/>
        </p:nvSpPr>
        <p:spPr>
          <a:xfrm>
            <a:off x="2331720" y="6263640"/>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Assumed / reconstructed</a:t>
            </a:r>
            <a:endParaRPr lang="en-US" sz="1100" dirty="0"/>
          </a:p>
        </p:txBody>
      </p:sp>
      <p:sp>
        <p:nvSpPr>
          <p:cNvPr id="9" name="Text 6"/>
          <p:cNvSpPr/>
          <p:nvPr/>
        </p:nvSpPr>
        <p:spPr>
          <a:xfrm>
            <a:off x="8138160" y="6263640"/>
            <a:ext cx="3566160" cy="310896"/>
          </a:xfrm>
          <a:prstGeom prst="rect">
            <a:avLst/>
          </a:prstGeom>
          <a:noFill/>
          <a:ln/>
        </p:spPr>
        <p:txBody>
          <a:bodyPr wrap="square" lIns="0" tIns="0" rIns="0" bIns="0" rtlCol="0" anchor="ctr"/>
          <a:lstStyle/>
          <a:p>
            <a:pPr algn="r" indent="0" marL="0">
              <a:buNone/>
            </a:pPr>
            <a:r>
              <a:rPr lang="en-US" sz="1000" i="1" dirty="0">
                <a:solidFill>
                  <a:srgbClr val="5C7684"/>
                </a:solidFill>
                <a:latin typeface="Calibri" pitchFamily="34" charset="0"/>
                <a:ea typeface="Calibri" pitchFamily="34" charset="-122"/>
                <a:cs typeface="Calibri" pitchFamily="34" charset="-120"/>
              </a:rPr>
              <a:t>Full provenance table (Table I) is reported in the paper.</a:t>
            </a:r>
            <a:endParaRPr lang="en-US" sz="1000" dirty="0"/>
          </a:p>
        </p:txBody>
      </p:sp>
      <p:sp>
        <p:nvSpPr>
          <p:cNvPr id="10" name="Text 7"/>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11" name="Text 8"/>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RL FORMULATION</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Q-Learning and Energy Model</a:t>
            </a:r>
            <a:endParaRPr lang="en-US" sz="3000" dirty="0"/>
          </a:p>
        </p:txBody>
      </p:sp>
      <p:sp>
        <p:nvSpPr>
          <p:cNvPr id="4" name="Shape 2"/>
          <p:cNvSpPr/>
          <p:nvPr/>
        </p:nvSpPr>
        <p:spPr>
          <a:xfrm>
            <a:off x="1645920" y="1280160"/>
            <a:ext cx="1371600" cy="731520"/>
          </a:xfrm>
          <a:prstGeom prst="roundRect">
            <a:avLst>
              <a:gd name="adj" fmla="val 12500"/>
            </a:avLst>
          </a:prstGeom>
          <a:solidFill>
            <a:srgbClr val="1C7293"/>
          </a:solidFill>
          <a:ln/>
        </p:spPr>
      </p:sp>
      <p:sp>
        <p:nvSpPr>
          <p:cNvPr id="5" name="Text 3"/>
          <p:cNvSpPr/>
          <p:nvPr/>
        </p:nvSpPr>
        <p:spPr>
          <a:xfrm>
            <a:off x="1645920" y="1280160"/>
            <a:ext cx="137160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p>
        </p:txBody>
      </p:sp>
      <p:sp>
        <p:nvSpPr>
          <p:cNvPr id="6" name="Shape 4"/>
          <p:cNvSpPr/>
          <p:nvPr/>
        </p:nvSpPr>
        <p:spPr>
          <a:xfrm>
            <a:off x="2714976" y="3131820"/>
            <a:ext cx="1371600" cy="731520"/>
          </a:xfrm>
          <a:prstGeom prst="roundRect">
            <a:avLst>
              <a:gd name="adj" fmla="val 12500"/>
            </a:avLst>
          </a:prstGeom>
          <a:solidFill>
            <a:srgbClr val="065A82"/>
          </a:solidFill>
          <a:ln/>
        </p:spPr>
      </p:sp>
      <p:sp>
        <p:nvSpPr>
          <p:cNvPr id="7" name="Text 5"/>
          <p:cNvSpPr/>
          <p:nvPr/>
        </p:nvSpPr>
        <p:spPr>
          <a:xfrm>
            <a:off x="2714976" y="3131820"/>
            <a:ext cx="137160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8" name="Shape 6"/>
          <p:cNvSpPr/>
          <p:nvPr/>
        </p:nvSpPr>
        <p:spPr>
          <a:xfrm>
            <a:off x="576864" y="3131820"/>
            <a:ext cx="1371600" cy="731520"/>
          </a:xfrm>
          <a:prstGeom prst="roundRect">
            <a:avLst>
              <a:gd name="adj" fmla="val 12500"/>
            </a:avLst>
          </a:prstGeom>
          <a:solidFill>
            <a:srgbClr val="1C7293"/>
          </a:solidFill>
          <a:ln/>
        </p:spPr>
      </p:sp>
      <p:sp>
        <p:nvSpPr>
          <p:cNvPr id="9" name="Text 7"/>
          <p:cNvSpPr/>
          <p:nvPr/>
        </p:nvSpPr>
        <p:spPr>
          <a:xfrm>
            <a:off x="576864" y="3131820"/>
            <a:ext cx="137160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Reward</a:t>
            </a:r>
            <a:endParaRPr lang="en-US" sz="1400" dirty="0"/>
          </a:p>
        </p:txBody>
      </p:sp>
      <p:sp>
        <p:nvSpPr>
          <p:cNvPr id="10" name="Shape 8"/>
          <p:cNvSpPr/>
          <p:nvPr/>
        </p:nvSpPr>
        <p:spPr>
          <a:xfrm>
            <a:off x="2331720" y="2148840"/>
            <a:ext cx="1005840" cy="1051560"/>
          </a:xfrm>
          <a:prstGeom prst="line">
            <a:avLst/>
          </a:prstGeom>
          <a:noFill/>
          <a:ln w="15875">
            <a:solidFill>
              <a:srgbClr val="5C7684"/>
            </a:solidFill>
            <a:prstDash val="solid"/>
            <a:tailEnd type="triangle"/>
          </a:ln>
        </p:spPr>
      </p:sp>
      <p:sp>
        <p:nvSpPr>
          <p:cNvPr id="11" name="Shape 9"/>
          <p:cNvSpPr/>
          <p:nvPr/>
        </p:nvSpPr>
        <p:spPr>
          <a:xfrm>
            <a:off x="3337560" y="3200400"/>
            <a:ext cx="-1005840" cy="914400"/>
          </a:xfrm>
          <a:prstGeom prst="line">
            <a:avLst/>
          </a:prstGeom>
          <a:noFill/>
          <a:ln w="15875">
            <a:solidFill>
              <a:srgbClr val="5C7684"/>
            </a:solidFill>
            <a:prstDash val="solid"/>
            <a:tailEnd type="triangle"/>
          </a:ln>
        </p:spPr>
      </p:sp>
      <p:sp>
        <p:nvSpPr>
          <p:cNvPr id="12" name="Shape 10"/>
          <p:cNvSpPr/>
          <p:nvPr/>
        </p:nvSpPr>
        <p:spPr>
          <a:xfrm>
            <a:off x="2331720" y="4114800"/>
            <a:ext cx="-365760" cy="-1965960"/>
          </a:xfrm>
          <a:prstGeom prst="line">
            <a:avLst/>
          </a:prstGeom>
          <a:noFill/>
          <a:ln w="15875">
            <a:solidFill>
              <a:srgbClr val="5C7684"/>
            </a:solidFill>
            <a:prstDash val="solid"/>
            <a:tailEnd type="triangle"/>
          </a:ln>
        </p:spPr>
      </p:sp>
      <p:sp>
        <p:nvSpPr>
          <p:cNvPr id="13" name="Text 11"/>
          <p:cNvSpPr/>
          <p:nvPr/>
        </p:nvSpPr>
        <p:spPr>
          <a:xfrm>
            <a:off x="365760" y="4526280"/>
            <a:ext cx="3931920" cy="548640"/>
          </a:xfrm>
          <a:prstGeom prst="rect">
            <a:avLst/>
          </a:prstGeom>
          <a:noFill/>
          <a:ln/>
        </p:spPr>
        <p:txBody>
          <a:bodyPr wrap="square" lIns="0" tIns="0" rIns="0" bIns="0" rtlCol="0" anchor="ctr"/>
          <a:lstStyle/>
          <a:p>
            <a:pPr algn="ctr" indent="0" marL="0">
              <a:buNone/>
            </a:pPr>
            <a:r>
              <a:rPr lang="en-US" sz="1050" i="1" dirty="0">
                <a:solidFill>
                  <a:srgbClr val="5C7684"/>
                </a:solidFill>
                <a:latin typeface="Calibri" pitchFamily="34" charset="0"/>
                <a:ea typeface="Calibri" pitchFamily="34" charset="-122"/>
                <a:cs typeface="Calibri" pitchFamily="34" charset="-120"/>
              </a:rPr>
              <a:t>Path Quality &amp; Energy Feasibility feed the update below every routing decision.</a:t>
            </a:r>
            <a:endParaRPr lang="en-US" sz="1050" dirty="0"/>
          </a:p>
        </p:txBody>
      </p:sp>
      <p:sp>
        <p:nvSpPr>
          <p:cNvPr id="14" name="Shape 12"/>
          <p:cNvSpPr/>
          <p:nvPr/>
        </p:nvSpPr>
        <p:spPr>
          <a:xfrm>
            <a:off x="4709160" y="1417320"/>
            <a:ext cx="6995160" cy="4480560"/>
          </a:xfrm>
          <a:prstGeom prst="roundRect">
            <a:avLst>
              <a:gd name="adj" fmla="val 1837"/>
            </a:avLst>
          </a:prstGeom>
          <a:solidFill>
            <a:srgbClr val="F5F9FB"/>
          </a:solidFill>
          <a:ln w="12700">
            <a:solidFill>
              <a:srgbClr val="D8E4E9"/>
            </a:solidFill>
            <a:prstDash val="solid"/>
          </a:ln>
        </p:spPr>
      </p:sp>
      <p:sp>
        <p:nvSpPr>
          <p:cNvPr id="15" name="Text 13"/>
          <p:cNvSpPr/>
          <p:nvPr/>
        </p:nvSpPr>
        <p:spPr>
          <a:xfrm>
            <a:off x="5029200" y="1627632"/>
            <a:ext cx="630936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Q-Value Update</a:t>
            </a:r>
            <a:endParaRPr lang="en-US" sz="1200" dirty="0"/>
          </a:p>
        </p:txBody>
      </p:sp>
      <p:sp>
        <p:nvSpPr>
          <p:cNvPr id="16" name="Shape 14"/>
          <p:cNvSpPr/>
          <p:nvPr/>
        </p:nvSpPr>
        <p:spPr>
          <a:xfrm>
            <a:off x="5029200" y="1920240"/>
            <a:ext cx="6309360" cy="566928"/>
          </a:xfrm>
          <a:prstGeom prst="roundRect">
            <a:avLst>
              <a:gd name="adj" fmla="val 9677"/>
            </a:avLst>
          </a:prstGeom>
          <a:solidFill>
            <a:srgbClr val="FFFFFF"/>
          </a:solidFill>
          <a:ln w="9525">
            <a:solidFill>
              <a:srgbClr val="D8E4E9"/>
            </a:solidFill>
            <a:prstDash val="solid"/>
          </a:ln>
        </p:spPr>
      </p:sp>
      <p:sp>
        <p:nvSpPr>
          <p:cNvPr id="17" name="Text 15"/>
          <p:cNvSpPr/>
          <p:nvPr/>
        </p:nvSpPr>
        <p:spPr>
          <a:xfrm>
            <a:off x="5166360" y="1920240"/>
            <a:ext cx="6035040" cy="566928"/>
          </a:xfrm>
          <a:prstGeom prst="rect">
            <a:avLst/>
          </a:prstGeom>
          <a:noFill/>
          <a:ln/>
        </p:spPr>
        <p:txBody>
          <a:bodyPr wrap="square" lIns="0" tIns="0" rIns="0" bIns="0" rtlCol="0" anchor="ctr"/>
          <a:lstStyle/>
          <a:p>
            <a:pPr indent="0" marL="0">
              <a:buNone/>
            </a:pPr>
            <a:r>
              <a:rPr lang="en-US" sz="1500" i="1" dirty="0">
                <a:solidFill>
                  <a:srgbClr val="16242C"/>
                </a:solidFill>
                <a:latin typeface="Cambria" pitchFamily="34" charset="0"/>
                <a:ea typeface="Cambria" pitchFamily="34" charset="-122"/>
                <a:cs typeface="Cambria" pitchFamily="34" charset="-120"/>
              </a:rPr>
              <a:t>Q_new = (1 − α) · Q_old + α · [Reward + PathQuality]</a:t>
            </a:r>
            <a:endParaRPr lang="en-US" sz="1500" dirty="0"/>
          </a:p>
        </p:txBody>
      </p:sp>
      <p:sp>
        <p:nvSpPr>
          <p:cNvPr id="18" name="Text 16"/>
          <p:cNvSpPr/>
          <p:nvPr/>
        </p:nvSpPr>
        <p:spPr>
          <a:xfrm>
            <a:off x="5029200" y="2880360"/>
            <a:ext cx="630936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Reward Function</a:t>
            </a:r>
            <a:endParaRPr lang="en-US" sz="1200" dirty="0"/>
          </a:p>
        </p:txBody>
      </p:sp>
      <p:sp>
        <p:nvSpPr>
          <p:cNvPr id="19" name="Shape 17"/>
          <p:cNvSpPr/>
          <p:nvPr/>
        </p:nvSpPr>
        <p:spPr>
          <a:xfrm>
            <a:off x="5029200" y="3172968"/>
            <a:ext cx="6309360" cy="566928"/>
          </a:xfrm>
          <a:prstGeom prst="roundRect">
            <a:avLst>
              <a:gd name="adj" fmla="val 9677"/>
            </a:avLst>
          </a:prstGeom>
          <a:solidFill>
            <a:srgbClr val="FFFFFF"/>
          </a:solidFill>
          <a:ln w="9525">
            <a:solidFill>
              <a:srgbClr val="D8E4E9"/>
            </a:solidFill>
            <a:prstDash val="solid"/>
          </a:ln>
        </p:spPr>
      </p:sp>
      <p:sp>
        <p:nvSpPr>
          <p:cNvPr id="20" name="Text 18"/>
          <p:cNvSpPr/>
          <p:nvPr/>
        </p:nvSpPr>
        <p:spPr>
          <a:xfrm>
            <a:off x="5166360" y="3172968"/>
            <a:ext cx="6035040" cy="566928"/>
          </a:xfrm>
          <a:prstGeom prst="rect">
            <a:avLst/>
          </a:prstGeom>
          <a:noFill/>
          <a:ln/>
        </p:spPr>
        <p:txBody>
          <a:bodyPr wrap="square" lIns="0" tIns="0" rIns="0" bIns="0" rtlCol="0" anchor="ctr"/>
          <a:lstStyle/>
          <a:p>
            <a:pPr indent="0" marL="0">
              <a:buNone/>
            </a:pPr>
            <a:r>
              <a:rPr lang="en-US" sz="1500" i="1" dirty="0">
                <a:solidFill>
                  <a:srgbClr val="16242C"/>
                </a:solidFill>
                <a:latin typeface="Cambria" pitchFamily="34" charset="0"/>
                <a:ea typeface="Cambria" pitchFamily="34" charset="-122"/>
                <a:cs typeface="Cambria" pitchFamily="34" charset="-120"/>
              </a:rPr>
              <a:t>Reward = E_residual / (distance^β × hop_count)</a:t>
            </a:r>
            <a:endParaRPr lang="en-US" sz="1500" dirty="0"/>
          </a:p>
        </p:txBody>
      </p:sp>
      <p:sp>
        <p:nvSpPr>
          <p:cNvPr id="21" name="Text 19"/>
          <p:cNvSpPr/>
          <p:nvPr/>
        </p:nvSpPr>
        <p:spPr>
          <a:xfrm>
            <a:off x="5029200" y="4133088"/>
            <a:ext cx="630936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Transmit Energy</a:t>
            </a:r>
            <a:endParaRPr lang="en-US" sz="1200" dirty="0"/>
          </a:p>
        </p:txBody>
      </p:sp>
      <p:sp>
        <p:nvSpPr>
          <p:cNvPr id="22" name="Shape 20"/>
          <p:cNvSpPr/>
          <p:nvPr/>
        </p:nvSpPr>
        <p:spPr>
          <a:xfrm>
            <a:off x="5029200" y="4425696"/>
            <a:ext cx="6309360" cy="566928"/>
          </a:xfrm>
          <a:prstGeom prst="roundRect">
            <a:avLst>
              <a:gd name="adj" fmla="val 9677"/>
            </a:avLst>
          </a:prstGeom>
          <a:solidFill>
            <a:srgbClr val="FFFFFF"/>
          </a:solidFill>
          <a:ln w="9525">
            <a:solidFill>
              <a:srgbClr val="D8E4E9"/>
            </a:solidFill>
            <a:prstDash val="solid"/>
          </a:ln>
        </p:spPr>
      </p:sp>
      <p:sp>
        <p:nvSpPr>
          <p:cNvPr id="23" name="Text 21"/>
          <p:cNvSpPr/>
          <p:nvPr/>
        </p:nvSpPr>
        <p:spPr>
          <a:xfrm>
            <a:off x="5166360" y="4425696"/>
            <a:ext cx="6035040" cy="566928"/>
          </a:xfrm>
          <a:prstGeom prst="rect">
            <a:avLst/>
          </a:prstGeom>
          <a:noFill/>
          <a:ln/>
        </p:spPr>
        <p:txBody>
          <a:bodyPr wrap="square" lIns="0" tIns="0" rIns="0" bIns="0" rtlCol="0" anchor="ctr"/>
          <a:lstStyle/>
          <a:p>
            <a:pPr indent="0" marL="0">
              <a:buNone/>
            </a:pPr>
            <a:r>
              <a:rPr lang="en-US" sz="1500" i="1" dirty="0">
                <a:solidFill>
                  <a:srgbClr val="16242C"/>
                </a:solidFill>
                <a:latin typeface="Cambria" pitchFamily="34" charset="0"/>
                <a:ea typeface="Cambria" pitchFamily="34" charset="-122"/>
                <a:cs typeface="Cambria" pitchFamily="34" charset="-120"/>
              </a:rPr>
              <a:t>E_TX(k,d) = E_elec · k + E_amp · k · d^β</a:t>
            </a:r>
            <a:endParaRPr lang="en-US" sz="1500" dirty="0"/>
          </a:p>
        </p:txBody>
      </p:sp>
      <p:sp>
        <p:nvSpPr>
          <p:cNvPr id="24" name="Text 22"/>
          <p:cNvSpPr/>
          <p:nvPr/>
        </p:nvSpPr>
        <p:spPr>
          <a:xfrm>
            <a:off x="5029200" y="5010912"/>
            <a:ext cx="6309360" cy="256032"/>
          </a:xfrm>
          <a:prstGeom prst="rect">
            <a:avLst/>
          </a:prstGeom>
          <a:noFill/>
          <a:ln/>
        </p:spPr>
        <p:txBody>
          <a:bodyPr wrap="square" lIns="0" tIns="0" rIns="0" bIns="0" rtlCol="0" anchor="ctr"/>
          <a:lstStyle/>
          <a:p>
            <a:pPr indent="0" marL="0">
              <a:buNone/>
            </a:pPr>
            <a:r>
              <a:rPr lang="en-US" sz="1000" dirty="0">
                <a:solidFill>
                  <a:srgbClr val="5C7684"/>
                </a:solidFill>
                <a:latin typeface="Calibri" pitchFamily="34" charset="0"/>
                <a:ea typeface="Calibri" pitchFamily="34" charset="-122"/>
                <a:cs typeface="Calibri" pitchFamily="34" charset="-120"/>
              </a:rPr>
              <a:t>β = 2 for d ≤ D₀  (free-space);  β = 4 for d &gt; D₀  (multipath)</a:t>
            </a:r>
            <a:endParaRPr lang="en-US" sz="1000" dirty="0"/>
          </a:p>
        </p:txBody>
      </p:sp>
      <p:sp>
        <p:nvSpPr>
          <p:cNvPr id="25" name="Text 23"/>
          <p:cNvSpPr/>
          <p:nvPr/>
        </p:nvSpPr>
        <p:spPr>
          <a:xfrm>
            <a:off x="5029200" y="5257800"/>
            <a:ext cx="630936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Receive Energy</a:t>
            </a:r>
            <a:endParaRPr lang="en-US" sz="1200" dirty="0"/>
          </a:p>
        </p:txBody>
      </p:sp>
      <p:sp>
        <p:nvSpPr>
          <p:cNvPr id="26" name="Shape 24"/>
          <p:cNvSpPr/>
          <p:nvPr/>
        </p:nvSpPr>
        <p:spPr>
          <a:xfrm>
            <a:off x="5029200" y="5550408"/>
            <a:ext cx="6309360" cy="566928"/>
          </a:xfrm>
          <a:prstGeom prst="roundRect">
            <a:avLst>
              <a:gd name="adj" fmla="val 9677"/>
            </a:avLst>
          </a:prstGeom>
          <a:solidFill>
            <a:srgbClr val="FFFFFF"/>
          </a:solidFill>
          <a:ln w="9525">
            <a:solidFill>
              <a:srgbClr val="D8E4E9"/>
            </a:solidFill>
            <a:prstDash val="solid"/>
          </a:ln>
        </p:spPr>
      </p:sp>
      <p:sp>
        <p:nvSpPr>
          <p:cNvPr id="27" name="Text 25"/>
          <p:cNvSpPr/>
          <p:nvPr/>
        </p:nvSpPr>
        <p:spPr>
          <a:xfrm>
            <a:off x="5166360" y="5550408"/>
            <a:ext cx="6035040" cy="566928"/>
          </a:xfrm>
          <a:prstGeom prst="rect">
            <a:avLst/>
          </a:prstGeom>
          <a:noFill/>
          <a:ln/>
        </p:spPr>
        <p:txBody>
          <a:bodyPr wrap="square" lIns="0" tIns="0" rIns="0" bIns="0" rtlCol="0" anchor="ctr"/>
          <a:lstStyle/>
          <a:p>
            <a:pPr indent="0" marL="0">
              <a:buNone/>
            </a:pPr>
            <a:r>
              <a:rPr lang="en-US" sz="1500" i="1" dirty="0">
                <a:solidFill>
                  <a:srgbClr val="16242C"/>
                </a:solidFill>
                <a:latin typeface="Cambria" pitchFamily="34" charset="0"/>
                <a:ea typeface="Cambria" pitchFamily="34" charset="-122"/>
                <a:cs typeface="Cambria" pitchFamily="34" charset="-120"/>
              </a:rPr>
              <a:t>E_RX(k) = E_elec · k</a:t>
            </a:r>
            <a:endParaRPr lang="en-US" sz="1500" dirty="0"/>
          </a:p>
        </p:txBody>
      </p:sp>
      <p:sp>
        <p:nvSpPr>
          <p:cNvPr id="28" name="Text 26"/>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29" name="Text 27"/>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Implementation and Validation</a:t>
            </a:r>
            <a:endParaRPr lang="en-US" sz="3000" dirty="0"/>
          </a:p>
        </p:txBody>
      </p:sp>
      <p:sp>
        <p:nvSpPr>
          <p:cNvPr id="4" name="Shape 2"/>
          <p:cNvSpPr/>
          <p:nvPr/>
        </p:nvSpPr>
        <p:spPr>
          <a:xfrm>
            <a:off x="457200" y="1508760"/>
            <a:ext cx="2606040" cy="914400"/>
          </a:xfrm>
          <a:prstGeom prst="roundRect">
            <a:avLst>
              <a:gd name="adj" fmla="val 8000"/>
            </a:avLst>
          </a:prstGeom>
          <a:solidFill>
            <a:srgbClr val="F5F9FB"/>
          </a:solidFill>
          <a:ln w="12700">
            <a:solidFill>
              <a:srgbClr val="D8E4E9"/>
            </a:solidFill>
            <a:prstDash val="solid"/>
          </a:ln>
        </p:spPr>
      </p:sp>
      <p:sp>
        <p:nvSpPr>
          <p:cNvPr id="5" name="Shape 3"/>
          <p:cNvSpPr/>
          <p:nvPr/>
        </p:nvSpPr>
        <p:spPr>
          <a:xfrm>
            <a:off x="621792" y="1673352"/>
            <a:ext cx="329184" cy="329184"/>
          </a:xfrm>
          <a:prstGeom prst="roundRect">
            <a:avLst>
              <a:gd name="adj" fmla="val 50000"/>
            </a:avLst>
          </a:prstGeom>
          <a:solidFill>
            <a:srgbClr val="1C7293"/>
          </a:solidFill>
          <a:ln/>
        </p:spPr>
      </p:sp>
      <p:sp>
        <p:nvSpPr>
          <p:cNvPr id="6" name="Text 4"/>
          <p:cNvSpPr/>
          <p:nvPr/>
        </p:nvSpPr>
        <p:spPr>
          <a:xfrm>
            <a:off x="621792" y="1673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94360" y="2011680"/>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Python</a:t>
            </a:r>
            <a:endParaRPr lang="en-US" sz="1150" dirty="0"/>
          </a:p>
        </p:txBody>
      </p:sp>
      <p:sp>
        <p:nvSpPr>
          <p:cNvPr id="8" name="Shape 6"/>
          <p:cNvSpPr/>
          <p:nvPr/>
        </p:nvSpPr>
        <p:spPr>
          <a:xfrm>
            <a:off x="3200400" y="1508760"/>
            <a:ext cx="2606040" cy="914400"/>
          </a:xfrm>
          <a:prstGeom prst="roundRect">
            <a:avLst>
              <a:gd name="adj" fmla="val 8000"/>
            </a:avLst>
          </a:prstGeom>
          <a:solidFill>
            <a:srgbClr val="F5F9FB"/>
          </a:solidFill>
          <a:ln w="12700">
            <a:solidFill>
              <a:srgbClr val="D8E4E9"/>
            </a:solidFill>
            <a:prstDash val="solid"/>
          </a:ln>
        </p:spPr>
      </p:sp>
      <p:sp>
        <p:nvSpPr>
          <p:cNvPr id="9" name="Shape 7"/>
          <p:cNvSpPr/>
          <p:nvPr/>
        </p:nvSpPr>
        <p:spPr>
          <a:xfrm>
            <a:off x="3364992" y="1673352"/>
            <a:ext cx="329184" cy="329184"/>
          </a:xfrm>
          <a:prstGeom prst="roundRect">
            <a:avLst>
              <a:gd name="adj" fmla="val 50000"/>
            </a:avLst>
          </a:prstGeom>
          <a:solidFill>
            <a:srgbClr val="1C7293"/>
          </a:solidFill>
          <a:ln/>
        </p:spPr>
      </p:sp>
      <p:sp>
        <p:nvSpPr>
          <p:cNvPr id="10" name="Text 8"/>
          <p:cNvSpPr/>
          <p:nvPr/>
        </p:nvSpPr>
        <p:spPr>
          <a:xfrm>
            <a:off x="3364992" y="1673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3337560" y="2011680"/>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NetworkX</a:t>
            </a:r>
            <a:endParaRPr lang="en-US" sz="1150" dirty="0"/>
          </a:p>
        </p:txBody>
      </p:sp>
      <p:sp>
        <p:nvSpPr>
          <p:cNvPr id="12" name="Shape 10"/>
          <p:cNvSpPr/>
          <p:nvPr/>
        </p:nvSpPr>
        <p:spPr>
          <a:xfrm>
            <a:off x="5943600" y="1508760"/>
            <a:ext cx="2606040" cy="914400"/>
          </a:xfrm>
          <a:prstGeom prst="roundRect">
            <a:avLst>
              <a:gd name="adj" fmla="val 8000"/>
            </a:avLst>
          </a:prstGeom>
          <a:solidFill>
            <a:srgbClr val="F5F9FB"/>
          </a:solidFill>
          <a:ln w="12700">
            <a:solidFill>
              <a:srgbClr val="D8E4E9"/>
            </a:solidFill>
            <a:prstDash val="solid"/>
          </a:ln>
        </p:spPr>
      </p:sp>
      <p:sp>
        <p:nvSpPr>
          <p:cNvPr id="13" name="Shape 11"/>
          <p:cNvSpPr/>
          <p:nvPr/>
        </p:nvSpPr>
        <p:spPr>
          <a:xfrm>
            <a:off x="6108192" y="1673352"/>
            <a:ext cx="329184" cy="329184"/>
          </a:xfrm>
          <a:prstGeom prst="roundRect">
            <a:avLst>
              <a:gd name="adj" fmla="val 50000"/>
            </a:avLst>
          </a:prstGeom>
          <a:solidFill>
            <a:srgbClr val="1C7293"/>
          </a:solidFill>
          <a:ln/>
        </p:spPr>
      </p:sp>
      <p:sp>
        <p:nvSpPr>
          <p:cNvPr id="14" name="Text 12"/>
          <p:cNvSpPr/>
          <p:nvPr/>
        </p:nvSpPr>
        <p:spPr>
          <a:xfrm>
            <a:off x="6108192" y="1673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6080760" y="2011680"/>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Q-Learning Routing Engine</a:t>
            </a:r>
            <a:endParaRPr lang="en-US" sz="1150" dirty="0"/>
          </a:p>
        </p:txBody>
      </p:sp>
      <p:sp>
        <p:nvSpPr>
          <p:cNvPr id="16" name="Shape 14"/>
          <p:cNvSpPr/>
          <p:nvPr/>
        </p:nvSpPr>
        <p:spPr>
          <a:xfrm>
            <a:off x="8686800" y="1508760"/>
            <a:ext cx="2606040" cy="914400"/>
          </a:xfrm>
          <a:prstGeom prst="roundRect">
            <a:avLst>
              <a:gd name="adj" fmla="val 8000"/>
            </a:avLst>
          </a:prstGeom>
          <a:solidFill>
            <a:srgbClr val="F5F9FB"/>
          </a:solidFill>
          <a:ln w="12700">
            <a:solidFill>
              <a:srgbClr val="D8E4E9"/>
            </a:solidFill>
            <a:prstDash val="solid"/>
          </a:ln>
        </p:spPr>
      </p:sp>
      <p:sp>
        <p:nvSpPr>
          <p:cNvPr id="17" name="Shape 15"/>
          <p:cNvSpPr/>
          <p:nvPr/>
        </p:nvSpPr>
        <p:spPr>
          <a:xfrm>
            <a:off x="8851392" y="1673352"/>
            <a:ext cx="329184" cy="329184"/>
          </a:xfrm>
          <a:prstGeom prst="roundRect">
            <a:avLst>
              <a:gd name="adj" fmla="val 50000"/>
            </a:avLst>
          </a:prstGeom>
          <a:solidFill>
            <a:srgbClr val="1C7293"/>
          </a:solidFill>
          <a:ln/>
        </p:spPr>
      </p:sp>
      <p:sp>
        <p:nvSpPr>
          <p:cNvPr id="18" name="Text 16"/>
          <p:cNvSpPr/>
          <p:nvPr/>
        </p:nvSpPr>
        <p:spPr>
          <a:xfrm>
            <a:off x="8851392" y="1673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8823960" y="2011680"/>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Radio Energy Model</a:t>
            </a:r>
            <a:endParaRPr lang="en-US" sz="1150" dirty="0"/>
          </a:p>
        </p:txBody>
      </p:sp>
      <p:sp>
        <p:nvSpPr>
          <p:cNvPr id="20" name="Shape 18"/>
          <p:cNvSpPr/>
          <p:nvPr/>
        </p:nvSpPr>
        <p:spPr>
          <a:xfrm>
            <a:off x="457200" y="2624328"/>
            <a:ext cx="2606040" cy="914400"/>
          </a:xfrm>
          <a:prstGeom prst="roundRect">
            <a:avLst>
              <a:gd name="adj" fmla="val 8000"/>
            </a:avLst>
          </a:prstGeom>
          <a:solidFill>
            <a:srgbClr val="F5F9FB"/>
          </a:solidFill>
          <a:ln w="12700">
            <a:solidFill>
              <a:srgbClr val="D8E4E9"/>
            </a:solidFill>
            <a:prstDash val="solid"/>
          </a:ln>
        </p:spPr>
      </p:sp>
      <p:sp>
        <p:nvSpPr>
          <p:cNvPr id="21" name="Shape 19"/>
          <p:cNvSpPr/>
          <p:nvPr/>
        </p:nvSpPr>
        <p:spPr>
          <a:xfrm>
            <a:off x="621792" y="2788920"/>
            <a:ext cx="329184" cy="329184"/>
          </a:xfrm>
          <a:prstGeom prst="roundRect">
            <a:avLst>
              <a:gd name="adj" fmla="val 50000"/>
            </a:avLst>
          </a:prstGeom>
          <a:solidFill>
            <a:srgbClr val="1C7293"/>
          </a:solidFill>
          <a:ln/>
        </p:spPr>
      </p:sp>
      <p:sp>
        <p:nvSpPr>
          <p:cNvPr id="22" name="Text 20"/>
          <p:cNvSpPr/>
          <p:nvPr/>
        </p:nvSpPr>
        <p:spPr>
          <a:xfrm>
            <a:off x="621792" y="27889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3" name="Text 21"/>
          <p:cNvSpPr/>
          <p:nvPr/>
        </p:nvSpPr>
        <p:spPr>
          <a:xfrm>
            <a:off x="594360" y="3127248"/>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Route Feasibility Checker</a:t>
            </a:r>
            <a:endParaRPr lang="en-US" sz="1150" dirty="0"/>
          </a:p>
        </p:txBody>
      </p:sp>
      <p:sp>
        <p:nvSpPr>
          <p:cNvPr id="24" name="Shape 22"/>
          <p:cNvSpPr/>
          <p:nvPr/>
        </p:nvSpPr>
        <p:spPr>
          <a:xfrm>
            <a:off x="3200400" y="2624328"/>
            <a:ext cx="2606040" cy="914400"/>
          </a:xfrm>
          <a:prstGeom prst="roundRect">
            <a:avLst>
              <a:gd name="adj" fmla="val 8000"/>
            </a:avLst>
          </a:prstGeom>
          <a:solidFill>
            <a:srgbClr val="F5F9FB"/>
          </a:solidFill>
          <a:ln w="12700">
            <a:solidFill>
              <a:srgbClr val="D8E4E9"/>
            </a:solidFill>
            <a:prstDash val="solid"/>
          </a:ln>
        </p:spPr>
      </p:sp>
      <p:sp>
        <p:nvSpPr>
          <p:cNvPr id="25" name="Shape 23"/>
          <p:cNvSpPr/>
          <p:nvPr/>
        </p:nvSpPr>
        <p:spPr>
          <a:xfrm>
            <a:off x="3364992" y="2788920"/>
            <a:ext cx="329184" cy="329184"/>
          </a:xfrm>
          <a:prstGeom prst="roundRect">
            <a:avLst>
              <a:gd name="adj" fmla="val 50000"/>
            </a:avLst>
          </a:prstGeom>
          <a:solidFill>
            <a:srgbClr val="1C7293"/>
          </a:solidFill>
          <a:ln/>
        </p:spPr>
      </p:sp>
      <p:sp>
        <p:nvSpPr>
          <p:cNvPr id="26" name="Text 24"/>
          <p:cNvSpPr/>
          <p:nvPr/>
        </p:nvSpPr>
        <p:spPr>
          <a:xfrm>
            <a:off x="3364992" y="27889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7" name="Text 25"/>
          <p:cNvSpPr/>
          <p:nvPr/>
        </p:nvSpPr>
        <p:spPr>
          <a:xfrm>
            <a:off x="3337560" y="3127248"/>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Link-Level Energy Audit</a:t>
            </a:r>
            <a:endParaRPr lang="en-US" sz="1150" dirty="0"/>
          </a:p>
        </p:txBody>
      </p:sp>
      <p:sp>
        <p:nvSpPr>
          <p:cNvPr id="28" name="Shape 26"/>
          <p:cNvSpPr/>
          <p:nvPr/>
        </p:nvSpPr>
        <p:spPr>
          <a:xfrm>
            <a:off x="5943600" y="2624328"/>
            <a:ext cx="2606040" cy="914400"/>
          </a:xfrm>
          <a:prstGeom prst="roundRect">
            <a:avLst>
              <a:gd name="adj" fmla="val 8000"/>
            </a:avLst>
          </a:prstGeom>
          <a:solidFill>
            <a:srgbClr val="F5F9FB"/>
          </a:solidFill>
          <a:ln w="12700">
            <a:solidFill>
              <a:srgbClr val="D8E4E9"/>
            </a:solidFill>
            <a:prstDash val="solid"/>
          </a:ln>
        </p:spPr>
      </p:sp>
      <p:sp>
        <p:nvSpPr>
          <p:cNvPr id="29" name="Shape 27"/>
          <p:cNvSpPr/>
          <p:nvPr/>
        </p:nvSpPr>
        <p:spPr>
          <a:xfrm>
            <a:off x="6108192" y="2788920"/>
            <a:ext cx="329184" cy="329184"/>
          </a:xfrm>
          <a:prstGeom prst="roundRect">
            <a:avLst>
              <a:gd name="adj" fmla="val 50000"/>
            </a:avLst>
          </a:prstGeom>
          <a:solidFill>
            <a:srgbClr val="1C7293"/>
          </a:solidFill>
          <a:ln/>
        </p:spPr>
      </p:sp>
      <p:sp>
        <p:nvSpPr>
          <p:cNvPr id="30" name="Text 28"/>
          <p:cNvSpPr/>
          <p:nvPr/>
        </p:nvSpPr>
        <p:spPr>
          <a:xfrm>
            <a:off x="6108192" y="27889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Text 29"/>
          <p:cNvSpPr/>
          <p:nvPr/>
        </p:nvSpPr>
        <p:spPr>
          <a:xfrm>
            <a:off x="6080760" y="3127248"/>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Executed Jupyter Notebook</a:t>
            </a:r>
            <a:endParaRPr lang="en-US" sz="1150" dirty="0"/>
          </a:p>
        </p:txBody>
      </p:sp>
      <p:sp>
        <p:nvSpPr>
          <p:cNvPr id="32" name="Shape 30"/>
          <p:cNvSpPr/>
          <p:nvPr/>
        </p:nvSpPr>
        <p:spPr>
          <a:xfrm>
            <a:off x="8686800" y="2624328"/>
            <a:ext cx="2606040" cy="914400"/>
          </a:xfrm>
          <a:prstGeom prst="roundRect">
            <a:avLst>
              <a:gd name="adj" fmla="val 8000"/>
            </a:avLst>
          </a:prstGeom>
          <a:solidFill>
            <a:srgbClr val="F5F9FB"/>
          </a:solidFill>
          <a:ln w="12700">
            <a:solidFill>
              <a:srgbClr val="D8E4E9"/>
            </a:solidFill>
            <a:prstDash val="solid"/>
          </a:ln>
        </p:spPr>
      </p:sp>
      <p:sp>
        <p:nvSpPr>
          <p:cNvPr id="33" name="Shape 31"/>
          <p:cNvSpPr/>
          <p:nvPr/>
        </p:nvSpPr>
        <p:spPr>
          <a:xfrm>
            <a:off x="8851392" y="2788920"/>
            <a:ext cx="329184" cy="329184"/>
          </a:xfrm>
          <a:prstGeom prst="roundRect">
            <a:avLst>
              <a:gd name="adj" fmla="val 50000"/>
            </a:avLst>
          </a:prstGeom>
          <a:solidFill>
            <a:srgbClr val="1C7293"/>
          </a:solidFill>
          <a:ln/>
        </p:spPr>
      </p:sp>
      <p:sp>
        <p:nvSpPr>
          <p:cNvPr id="34" name="Text 32"/>
          <p:cNvSpPr/>
          <p:nvPr/>
        </p:nvSpPr>
        <p:spPr>
          <a:xfrm>
            <a:off x="8851392" y="27889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8823960" y="3127248"/>
            <a:ext cx="2331720" cy="384048"/>
          </a:xfrm>
          <a:prstGeom prst="rect">
            <a:avLst/>
          </a:prstGeom>
          <a:noFill/>
          <a:ln/>
        </p:spPr>
        <p:txBody>
          <a:bodyPr wrap="square" lIns="0" tIns="0" rIns="0" bIns="0" rtlCol="0" anchor="ctr"/>
          <a:lstStyle/>
          <a:p>
            <a:pPr indent="0" marL="0">
              <a:lnSpc>
                <a:spcPct val="100000"/>
              </a:lnSpc>
              <a:buNone/>
            </a:pPr>
            <a:r>
              <a:rPr lang="en-US" sz="1150" b="1" dirty="0">
                <a:solidFill>
                  <a:srgbClr val="16242C"/>
                </a:solidFill>
                <a:latin typeface="Calibri" pitchFamily="34" charset="0"/>
                <a:ea typeface="Calibri" pitchFamily="34" charset="-122"/>
                <a:cs typeface="Calibri" pitchFamily="34" charset="-120"/>
              </a:rPr>
              <a:t>GitHub Repository</a:t>
            </a:r>
            <a:endParaRPr lang="en-US" sz="1150" dirty="0"/>
          </a:p>
        </p:txBody>
      </p:sp>
      <p:sp>
        <p:nvSpPr>
          <p:cNvPr id="36" name="Shape 34"/>
          <p:cNvSpPr/>
          <p:nvPr/>
        </p:nvSpPr>
        <p:spPr>
          <a:xfrm>
            <a:off x="457200" y="3977640"/>
            <a:ext cx="10835640" cy="1051560"/>
          </a:xfrm>
          <a:prstGeom prst="roundRect">
            <a:avLst>
              <a:gd name="adj" fmla="val 7826"/>
            </a:avLst>
          </a:prstGeom>
          <a:solidFill>
            <a:srgbClr val="EAF3EE"/>
          </a:solidFill>
          <a:ln w="15875">
            <a:solidFill>
              <a:srgbClr val="2E7D5B"/>
            </a:solidFill>
            <a:prstDash val="solid"/>
          </a:ln>
        </p:spPr>
      </p:sp>
      <p:sp>
        <p:nvSpPr>
          <p:cNvPr id="37" name="Text 35"/>
          <p:cNvSpPr/>
          <p:nvPr/>
        </p:nvSpPr>
        <p:spPr>
          <a:xfrm>
            <a:off x="640080" y="3977640"/>
            <a:ext cx="502920" cy="1051560"/>
          </a:xfrm>
          <a:prstGeom prst="rect">
            <a:avLst/>
          </a:prstGeom>
          <a:noFill/>
          <a:ln/>
        </p:spPr>
        <p:txBody>
          <a:bodyPr wrap="square" lIns="0" tIns="0" rIns="0" bIns="0" rtlCol="0" anchor="ctr"/>
          <a:lstStyle/>
          <a:p>
            <a:pPr algn="ctr" indent="0" marL="0">
              <a:buNone/>
            </a:pPr>
            <a:r>
              <a:rPr lang="en-US" sz="2200" dirty="0">
                <a:solidFill>
                  <a:srgbClr val="2E7D5B"/>
                </a:solidFill>
                <a:latin typeface="Arial" pitchFamily="34" charset="0"/>
                <a:ea typeface="Arial" pitchFamily="34" charset="-122"/>
                <a:cs typeface="Arial" pitchFamily="34" charset="-120"/>
              </a:rPr>
              <a:t>✔</a:t>
            </a:r>
            <a:endParaRPr lang="en-US" sz="2200" dirty="0"/>
          </a:p>
        </p:txBody>
      </p:sp>
      <p:sp>
        <p:nvSpPr>
          <p:cNvPr id="38" name="Text 36"/>
          <p:cNvSpPr/>
          <p:nvPr/>
        </p:nvSpPr>
        <p:spPr>
          <a:xfrm>
            <a:off x="1188720" y="3977640"/>
            <a:ext cx="9966960" cy="1051560"/>
          </a:xfrm>
          <a:prstGeom prst="rect">
            <a:avLst/>
          </a:prstGeom>
          <a:noFill/>
          <a:ln/>
        </p:spPr>
        <p:txBody>
          <a:bodyPr wrap="square" lIns="0" tIns="0" rIns="0" bIns="0" rtlCol="0" anchor="ctr"/>
          <a:lstStyle/>
          <a:p>
            <a:pPr indent="0" marL="0">
              <a:lnSpc>
                <a:spcPct val="120000"/>
              </a:lnSpc>
              <a:buNone/>
            </a:pPr>
            <a:r>
              <a:rPr lang="en-US" sz="1300" b="1" dirty="0">
                <a:solidFill>
                  <a:srgbClr val="1E4A2E"/>
                </a:solidFill>
                <a:latin typeface="Calibri" pitchFamily="34" charset="0"/>
                <a:ea typeface="Calibri" pitchFamily="34" charset="-122"/>
                <a:cs typeface="Calibri" pitchFamily="34" charset="-120"/>
              </a:rPr>
              <a:t>The implementation was independently tested against manually calculated link-level energy values — every audited transmit/receive energy value agreed with the manual calculation to the displayed numerical precision.</a:t>
            </a:r>
            <a:endParaRPr lang="en-US" sz="1300" dirty="0"/>
          </a:p>
        </p:txBody>
      </p:sp>
      <p:sp>
        <p:nvSpPr>
          <p:cNvPr id="39" name="Text 37"/>
          <p:cNvSpPr/>
          <p:nvPr/>
        </p:nvSpPr>
        <p:spPr>
          <a:xfrm>
            <a:off x="457200" y="5257800"/>
            <a:ext cx="457200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Validation layers performed:</a:t>
            </a:r>
            <a:endParaRPr lang="en-US" sz="1200" dirty="0"/>
          </a:p>
        </p:txBody>
      </p:sp>
      <p:sp>
        <p:nvSpPr>
          <p:cNvPr id="40" name="Text 38"/>
          <p:cNvSpPr/>
          <p:nvPr/>
        </p:nvSpPr>
        <p:spPr>
          <a:xfrm>
            <a:off x="457200" y="5532120"/>
            <a:ext cx="10698480" cy="86868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200" dirty="0">
                <a:solidFill>
                  <a:srgbClr val="16242C"/>
                </a:solidFill>
                <a:latin typeface="Calibri" pitchFamily="34" charset="0"/>
                <a:ea typeface="Calibri" pitchFamily="34" charset="-122"/>
                <a:cs typeface="Calibri" pitchFamily="34" charset="-120"/>
              </a:rPr>
              <a:t>Single-packet reward / Q-value / energy audit</a:t>
            </a:r>
            <a:endParaRPr lang="en-US" sz="1200" dirty="0"/>
          </a:p>
          <a:p>
            <a:pPr marL="342900" indent="-342900">
              <a:lnSpc>
                <a:spcPct val="120000"/>
              </a:lnSpc>
              <a:spcAft>
                <a:spcPts val="300"/>
              </a:spcAft>
              <a:buSzPct val="100000"/>
              <a:buChar char="✦"/>
            </a:pPr>
            <a:r>
              <a:rPr lang="en-US" sz="1200" dirty="0">
                <a:solidFill>
                  <a:srgbClr val="16242C"/>
                </a:solidFill>
                <a:latin typeface="Calibri" pitchFamily="34" charset="0"/>
                <a:ea typeface="Calibri" pitchFamily="34" charset="-122"/>
                <a:cs typeface="Calibri" pitchFamily="34" charset="-120"/>
              </a:rPr>
              <a:t>Link-by-link TX/RX energy audit (6 links)</a:t>
            </a:r>
            <a:endParaRPr lang="en-US" sz="1200" dirty="0"/>
          </a:p>
          <a:p>
            <a:pPr marL="342900" indent="-342900">
              <a:lnSpc>
                <a:spcPct val="120000"/>
              </a:lnSpc>
              <a:spcAft>
                <a:spcPts val="300"/>
              </a:spcAft>
              <a:buSzPct val="100000"/>
              <a:buChar char="✦"/>
            </a:pPr>
            <a:r>
              <a:rPr lang="en-US" sz="1200" dirty="0">
                <a:solidFill>
                  <a:srgbClr val="16242C"/>
                </a:solidFill>
                <a:latin typeface="Calibri" pitchFamily="34" charset="0"/>
                <a:ea typeface="Calibri" pitchFamily="34" charset="-122"/>
                <a:cs typeface="Calibri" pitchFamily="34" charset="-120"/>
              </a:rPr>
              <a:t>Controlled infeasible-route rejection test</a:t>
            </a:r>
            <a:endParaRPr lang="en-US" sz="1200" dirty="0"/>
          </a:p>
          <a:p>
            <a:pPr marL="342900" indent="-342900">
              <a:lnSpc>
                <a:spcPct val="120000"/>
              </a:lnSpc>
              <a:spcAft>
                <a:spcPts val="300"/>
              </a:spcAft>
              <a:buSzPct val="100000"/>
              <a:buChar char="✦"/>
            </a:pPr>
            <a:r>
              <a:rPr lang="en-US" sz="1200" dirty="0">
                <a:solidFill>
                  <a:srgbClr val="16242C"/>
                </a:solidFill>
                <a:latin typeface="Calibri" pitchFamily="34" charset="0"/>
                <a:ea typeface="Calibri" pitchFamily="34" charset="-122"/>
                <a:cs typeface="Calibri" pitchFamily="34" charset="-120"/>
              </a:rPr>
              <a:t>Full 45-node lifetime experiment</a:t>
            </a:r>
            <a:endParaRPr lang="en-US" sz="1200" dirty="0"/>
          </a:p>
        </p:txBody>
      </p:sp>
      <p:sp>
        <p:nvSpPr>
          <p:cNvPr id="41" name="Text 39"/>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42" name="Text 40"/>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FULL-NETWORK EXPERIMENT</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Final 45-Node Experiment Results</a:t>
            </a:r>
            <a:endParaRPr lang="en-US" sz="3000" dirty="0"/>
          </a:p>
        </p:txBody>
      </p:sp>
      <p:sp>
        <p:nvSpPr>
          <p:cNvPr id="4" name="Shape 2"/>
          <p:cNvSpPr/>
          <p:nvPr/>
        </p:nvSpPr>
        <p:spPr>
          <a:xfrm>
            <a:off x="457200" y="1463040"/>
            <a:ext cx="2084832" cy="1417320"/>
          </a:xfrm>
          <a:prstGeom prst="roundRect">
            <a:avLst>
              <a:gd name="adj" fmla="val 5806"/>
            </a:avLst>
          </a:prstGeom>
          <a:solidFill>
            <a:srgbClr val="065A82"/>
          </a:solidFill>
          <a:ln w="12700">
            <a:solidFill>
              <a:srgbClr val="065A82"/>
            </a:solidFill>
            <a:prstDash val="solid"/>
          </a:ln>
        </p:spPr>
      </p:sp>
      <p:sp>
        <p:nvSpPr>
          <p:cNvPr id="5" name="Text 3"/>
          <p:cNvSpPr/>
          <p:nvPr/>
        </p:nvSpPr>
        <p:spPr>
          <a:xfrm>
            <a:off x="457200" y="1645920"/>
            <a:ext cx="2084832"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9,189</a:t>
            </a:r>
            <a:endParaRPr lang="en-US" sz="2600" dirty="0"/>
          </a:p>
        </p:txBody>
      </p:sp>
      <p:sp>
        <p:nvSpPr>
          <p:cNvPr id="6" name="Text 4"/>
          <p:cNvSpPr/>
          <p:nvPr/>
        </p:nvSpPr>
        <p:spPr>
          <a:xfrm>
            <a:off x="457200" y="2359152"/>
            <a:ext cx="2084832" cy="457200"/>
          </a:xfrm>
          <a:prstGeom prst="rect">
            <a:avLst/>
          </a:prstGeom>
          <a:noFill/>
          <a:ln/>
        </p:spPr>
        <p:txBody>
          <a:bodyPr wrap="square" lIns="0" tIns="0" rIns="0" bIns="0" rtlCol="0" anchor="ctr"/>
          <a:lstStyle/>
          <a:p>
            <a:pPr algn="ctr" indent="0" marL="0">
              <a:lnSpc>
                <a:spcPct val="110000"/>
              </a:lnSpc>
              <a:buNone/>
            </a:pPr>
            <a:r>
              <a:rPr lang="en-US" sz="1050" dirty="0">
                <a:solidFill>
                  <a:srgbClr val="E4EEF3"/>
                </a:solidFill>
                <a:latin typeface="Calibri" pitchFamily="34" charset="0"/>
                <a:ea typeface="Calibri" pitchFamily="34" charset="-122"/>
                <a:cs typeface="Calibri" pitchFamily="34" charset="-120"/>
              </a:rPr>
              <a:t>Completed Rounds</a:t>
            </a:r>
            <a:endParaRPr lang="en-US" sz="1050" dirty="0"/>
          </a:p>
        </p:txBody>
      </p:sp>
      <p:sp>
        <p:nvSpPr>
          <p:cNvPr id="7" name="Shape 5"/>
          <p:cNvSpPr/>
          <p:nvPr/>
        </p:nvSpPr>
        <p:spPr>
          <a:xfrm>
            <a:off x="2670048" y="1463040"/>
            <a:ext cx="2084832" cy="1417320"/>
          </a:xfrm>
          <a:prstGeom prst="roundRect">
            <a:avLst>
              <a:gd name="adj" fmla="val 5806"/>
            </a:avLst>
          </a:prstGeom>
          <a:solidFill>
            <a:srgbClr val="F5F9FB"/>
          </a:solidFill>
          <a:ln w="12700">
            <a:solidFill>
              <a:srgbClr val="D8E4E9"/>
            </a:solidFill>
            <a:prstDash val="solid"/>
          </a:ln>
        </p:spPr>
      </p:sp>
      <p:sp>
        <p:nvSpPr>
          <p:cNvPr id="8" name="Text 6"/>
          <p:cNvSpPr/>
          <p:nvPr/>
        </p:nvSpPr>
        <p:spPr>
          <a:xfrm>
            <a:off x="2670048" y="1645920"/>
            <a:ext cx="2084832" cy="685800"/>
          </a:xfrm>
          <a:prstGeom prst="rect">
            <a:avLst/>
          </a:prstGeom>
          <a:noFill/>
          <a:ln/>
        </p:spPr>
        <p:txBody>
          <a:bodyPr wrap="square" lIns="0" tIns="0" rIns="0" bIns="0"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4,704.77</a:t>
            </a:r>
            <a:endParaRPr lang="en-US" sz="2600" dirty="0"/>
          </a:p>
        </p:txBody>
      </p:sp>
      <p:sp>
        <p:nvSpPr>
          <p:cNvPr id="9" name="Text 7"/>
          <p:cNvSpPr/>
          <p:nvPr/>
        </p:nvSpPr>
        <p:spPr>
          <a:xfrm>
            <a:off x="2670048" y="2359152"/>
            <a:ext cx="2084832" cy="457200"/>
          </a:xfrm>
          <a:prstGeom prst="rect">
            <a:avLst/>
          </a:prstGeom>
          <a:noFill/>
          <a:ln/>
        </p:spPr>
        <p:txBody>
          <a:bodyPr wrap="square" lIns="0" tIns="0" rIns="0" bIns="0" rtlCol="0" anchor="ctr"/>
          <a:lstStyle/>
          <a:p>
            <a:pPr algn="ctr" indent="0" marL="0">
              <a:lnSpc>
                <a:spcPct val="110000"/>
              </a:lnSpc>
              <a:buNone/>
            </a:pPr>
            <a:r>
              <a:rPr lang="en-US" sz="1050" dirty="0">
                <a:solidFill>
                  <a:srgbClr val="5C7684"/>
                </a:solidFill>
                <a:latin typeface="Calibri" pitchFamily="34" charset="0"/>
                <a:ea typeface="Calibri" pitchFamily="34" charset="-122"/>
                <a:cs typeface="Calibri" pitchFamily="34" charset="-120"/>
              </a:rPr>
              <a:t>Kbits Transmitted</a:t>
            </a:r>
            <a:endParaRPr lang="en-US" sz="1050" dirty="0"/>
          </a:p>
        </p:txBody>
      </p:sp>
      <p:sp>
        <p:nvSpPr>
          <p:cNvPr id="10" name="Shape 8"/>
          <p:cNvSpPr/>
          <p:nvPr/>
        </p:nvSpPr>
        <p:spPr>
          <a:xfrm>
            <a:off x="4882896" y="1463040"/>
            <a:ext cx="2084832" cy="1417320"/>
          </a:xfrm>
          <a:prstGeom prst="roundRect">
            <a:avLst>
              <a:gd name="adj" fmla="val 5806"/>
            </a:avLst>
          </a:prstGeom>
          <a:solidFill>
            <a:srgbClr val="F5F9FB"/>
          </a:solidFill>
          <a:ln w="12700">
            <a:solidFill>
              <a:srgbClr val="D8E4E9"/>
            </a:solidFill>
            <a:prstDash val="solid"/>
          </a:ln>
        </p:spPr>
      </p:sp>
      <p:sp>
        <p:nvSpPr>
          <p:cNvPr id="11" name="Text 9"/>
          <p:cNvSpPr/>
          <p:nvPr/>
        </p:nvSpPr>
        <p:spPr>
          <a:xfrm>
            <a:off x="4882896" y="1645920"/>
            <a:ext cx="2084832" cy="68580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4.080833 J</a:t>
            </a:r>
            <a:endParaRPr lang="en-US" sz="2000" dirty="0"/>
          </a:p>
        </p:txBody>
      </p:sp>
      <p:sp>
        <p:nvSpPr>
          <p:cNvPr id="12" name="Text 10"/>
          <p:cNvSpPr/>
          <p:nvPr/>
        </p:nvSpPr>
        <p:spPr>
          <a:xfrm>
            <a:off x="4882896" y="2359152"/>
            <a:ext cx="2084832" cy="457200"/>
          </a:xfrm>
          <a:prstGeom prst="rect">
            <a:avLst/>
          </a:prstGeom>
          <a:noFill/>
          <a:ln/>
        </p:spPr>
        <p:txBody>
          <a:bodyPr wrap="square" lIns="0" tIns="0" rIns="0" bIns="0" rtlCol="0" anchor="ctr"/>
          <a:lstStyle/>
          <a:p>
            <a:pPr algn="ctr" indent="0" marL="0">
              <a:lnSpc>
                <a:spcPct val="110000"/>
              </a:lnSpc>
              <a:buNone/>
            </a:pPr>
            <a:r>
              <a:rPr lang="en-US" sz="1050" dirty="0">
                <a:solidFill>
                  <a:srgbClr val="5C7684"/>
                </a:solidFill>
                <a:latin typeface="Calibri" pitchFamily="34" charset="0"/>
                <a:ea typeface="Calibri" pitchFamily="34" charset="-122"/>
                <a:cs typeface="Calibri" pitchFamily="34" charset="-120"/>
              </a:rPr>
              <a:t>Energy Consumed</a:t>
            </a:r>
            <a:endParaRPr lang="en-US" sz="1050" dirty="0"/>
          </a:p>
        </p:txBody>
      </p:sp>
      <p:sp>
        <p:nvSpPr>
          <p:cNvPr id="13" name="Shape 11"/>
          <p:cNvSpPr/>
          <p:nvPr/>
        </p:nvSpPr>
        <p:spPr>
          <a:xfrm>
            <a:off x="7095744" y="1463040"/>
            <a:ext cx="2084832" cy="1417320"/>
          </a:xfrm>
          <a:prstGeom prst="roundRect">
            <a:avLst>
              <a:gd name="adj" fmla="val 5806"/>
            </a:avLst>
          </a:prstGeom>
          <a:solidFill>
            <a:srgbClr val="F5F9FB"/>
          </a:solidFill>
          <a:ln w="12700">
            <a:solidFill>
              <a:srgbClr val="D8E4E9"/>
            </a:solidFill>
            <a:prstDash val="solid"/>
          </a:ln>
        </p:spPr>
      </p:sp>
      <p:sp>
        <p:nvSpPr>
          <p:cNvPr id="14" name="Text 12"/>
          <p:cNvSpPr/>
          <p:nvPr/>
        </p:nvSpPr>
        <p:spPr>
          <a:xfrm>
            <a:off x="7095744" y="1645920"/>
            <a:ext cx="2084832" cy="68580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17.919167 J</a:t>
            </a:r>
            <a:endParaRPr lang="en-US" sz="2000" dirty="0"/>
          </a:p>
        </p:txBody>
      </p:sp>
      <p:sp>
        <p:nvSpPr>
          <p:cNvPr id="15" name="Text 13"/>
          <p:cNvSpPr/>
          <p:nvPr/>
        </p:nvSpPr>
        <p:spPr>
          <a:xfrm>
            <a:off x="7095744" y="2359152"/>
            <a:ext cx="2084832" cy="457200"/>
          </a:xfrm>
          <a:prstGeom prst="rect">
            <a:avLst/>
          </a:prstGeom>
          <a:noFill/>
          <a:ln/>
        </p:spPr>
        <p:txBody>
          <a:bodyPr wrap="square" lIns="0" tIns="0" rIns="0" bIns="0" rtlCol="0" anchor="ctr"/>
          <a:lstStyle/>
          <a:p>
            <a:pPr algn="ctr" indent="0" marL="0">
              <a:lnSpc>
                <a:spcPct val="110000"/>
              </a:lnSpc>
              <a:buNone/>
            </a:pPr>
            <a:r>
              <a:rPr lang="en-US" sz="1050" dirty="0">
                <a:solidFill>
                  <a:srgbClr val="5C7684"/>
                </a:solidFill>
                <a:latin typeface="Calibri" pitchFamily="34" charset="0"/>
                <a:ea typeface="Calibri" pitchFamily="34" charset="-122"/>
                <a:cs typeface="Calibri" pitchFamily="34" charset="-120"/>
              </a:rPr>
              <a:t>Final Residual Energy</a:t>
            </a:r>
            <a:endParaRPr lang="en-US" sz="1050" dirty="0"/>
          </a:p>
        </p:txBody>
      </p:sp>
      <p:sp>
        <p:nvSpPr>
          <p:cNvPr id="16" name="Shape 14"/>
          <p:cNvSpPr/>
          <p:nvPr/>
        </p:nvSpPr>
        <p:spPr>
          <a:xfrm>
            <a:off x="9308592" y="1463040"/>
            <a:ext cx="2084832" cy="1417320"/>
          </a:xfrm>
          <a:prstGeom prst="roundRect">
            <a:avLst>
              <a:gd name="adj" fmla="val 5806"/>
            </a:avLst>
          </a:prstGeom>
          <a:solidFill>
            <a:srgbClr val="F5F9FB"/>
          </a:solidFill>
          <a:ln w="12700">
            <a:solidFill>
              <a:srgbClr val="D8E4E9"/>
            </a:solidFill>
            <a:prstDash val="solid"/>
          </a:ln>
        </p:spPr>
      </p:sp>
      <p:sp>
        <p:nvSpPr>
          <p:cNvPr id="17" name="Text 15"/>
          <p:cNvSpPr/>
          <p:nvPr/>
        </p:nvSpPr>
        <p:spPr>
          <a:xfrm>
            <a:off x="9308592" y="1645920"/>
            <a:ext cx="2084832" cy="685800"/>
          </a:xfrm>
          <a:prstGeom prst="rect">
            <a:avLst/>
          </a:prstGeom>
          <a:noFill/>
          <a:ln/>
        </p:spPr>
        <p:txBody>
          <a:bodyPr wrap="square" lIns="0" tIns="0" rIns="0" bIns="0"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44 / 0</a:t>
            </a:r>
            <a:endParaRPr lang="en-US" sz="2600" dirty="0"/>
          </a:p>
        </p:txBody>
      </p:sp>
      <p:sp>
        <p:nvSpPr>
          <p:cNvPr id="18" name="Text 16"/>
          <p:cNvSpPr/>
          <p:nvPr/>
        </p:nvSpPr>
        <p:spPr>
          <a:xfrm>
            <a:off x="9308592" y="2359152"/>
            <a:ext cx="2084832" cy="457200"/>
          </a:xfrm>
          <a:prstGeom prst="rect">
            <a:avLst/>
          </a:prstGeom>
          <a:noFill/>
          <a:ln/>
        </p:spPr>
        <p:txBody>
          <a:bodyPr wrap="square" lIns="0" tIns="0" rIns="0" bIns="0" rtlCol="0" anchor="ctr"/>
          <a:lstStyle/>
          <a:p>
            <a:pPr algn="ctr" indent="0" marL="0">
              <a:lnSpc>
                <a:spcPct val="110000"/>
              </a:lnSpc>
              <a:buNone/>
            </a:pPr>
            <a:r>
              <a:rPr lang="en-US" sz="1050" dirty="0">
                <a:solidFill>
                  <a:srgbClr val="5C7684"/>
                </a:solidFill>
                <a:latin typeface="Calibri" pitchFamily="34" charset="0"/>
                <a:ea typeface="Calibri" pitchFamily="34" charset="-122"/>
                <a:cs typeface="Calibri" pitchFamily="34" charset="-120"/>
              </a:rPr>
              <a:t>Alive / Dead Nodes</a:t>
            </a:r>
            <a:endParaRPr lang="en-US" sz="1050" dirty="0"/>
          </a:p>
        </p:txBody>
      </p:sp>
      <p:graphicFrame>
        <p:nvGraphicFramePr>
          <p:cNvPr id="19" name="Chart 0" descr=""/>
          <p:cNvGraphicFramePr/>
          <p:nvPr/>
        </p:nvGraphicFramePr>
        <p:xfrm>
          <a:off x="457200" y="3063240"/>
          <a:ext cx="5257800" cy="242316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897880" y="3063240"/>
            <a:ext cx="5806440" cy="2423160"/>
          </a:xfrm>
          <a:prstGeom prst="roundRect">
            <a:avLst>
              <a:gd name="adj" fmla="val 3396"/>
            </a:avLst>
          </a:prstGeom>
          <a:solidFill>
            <a:srgbClr val="F5F9FB"/>
          </a:solidFill>
          <a:ln w="12700">
            <a:solidFill>
              <a:srgbClr val="D8E4E9"/>
            </a:solidFill>
            <a:prstDash val="solid"/>
          </a:ln>
        </p:spPr>
      </p:sp>
      <p:sp>
        <p:nvSpPr>
          <p:cNvPr id="21" name="Text 18"/>
          <p:cNvSpPr/>
          <p:nvPr/>
        </p:nvSpPr>
        <p:spPr>
          <a:xfrm>
            <a:off x="6172200" y="3246120"/>
            <a:ext cx="53035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Why the run ended</a:t>
            </a:r>
            <a:endParaRPr lang="en-US" sz="1300" dirty="0"/>
          </a:p>
        </p:txBody>
      </p:sp>
      <p:sp>
        <p:nvSpPr>
          <p:cNvPr id="22" name="Text 19"/>
          <p:cNvSpPr/>
          <p:nvPr/>
        </p:nvSpPr>
        <p:spPr>
          <a:xfrm>
            <a:off x="6172200" y="3611880"/>
            <a:ext cx="5303520" cy="914400"/>
          </a:xfrm>
          <a:prstGeom prst="rect">
            <a:avLst/>
          </a:prstGeom>
          <a:noFill/>
          <a:ln/>
        </p:spPr>
        <p:txBody>
          <a:bodyPr wrap="square" lIns="0" tIns="0" rIns="0" bIns="0" rtlCol="0" anchor="ctr"/>
          <a:lstStyle/>
          <a:p>
            <a:pPr indent="0" marL="0">
              <a:lnSpc>
                <a:spcPct val="130000"/>
              </a:lnSpc>
              <a:buNone/>
            </a:pPr>
            <a:r>
              <a:rPr lang="en-US" sz="1250" dirty="0">
                <a:solidFill>
                  <a:srgbClr val="16242C"/>
                </a:solidFill>
                <a:latin typeface="Calibri" pitchFamily="34" charset="0"/>
                <a:ea typeface="Calibri" pitchFamily="34" charset="-122"/>
                <a:cs typeface="Calibri" pitchFamily="34" charset="-120"/>
              </a:rPr>
              <a:t>The experiment terminated when no further feasible complete route could be selected — </a:t>
            </a:r>
            <a:pPr indent="0" marL="0">
              <a:lnSpc>
                <a:spcPct val="130000"/>
              </a:lnSpc>
              <a:buNone/>
            </a:pPr>
            <a:r>
              <a:rPr lang="en-US" sz="1250" b="1" dirty="0">
                <a:solidFill>
                  <a:srgbClr val="E8A13A"/>
                </a:solidFill>
                <a:latin typeface="Calibri" pitchFamily="34" charset="0"/>
                <a:ea typeface="Calibri" pitchFamily="34" charset="-122"/>
                <a:cs typeface="Calibri" pitchFamily="34" charset="-120"/>
              </a:rPr>
              <a:t>not because of node death.</a:t>
            </a:r>
            <a:pPr indent="0" marL="0">
              <a:lnSpc>
                <a:spcPct val="130000"/>
              </a:lnSpc>
              <a:buNone/>
            </a:pPr>
            <a:r>
              <a:rPr lang="en-US" sz="1250" dirty="0">
                <a:solidFill>
                  <a:srgbClr val="16242C"/>
                </a:solidFill>
                <a:latin typeface="Calibri" pitchFamily="34" charset="0"/>
                <a:ea typeface="Calibri" pitchFamily="34" charset="-122"/>
                <a:cs typeface="Calibri" pitchFamily="34" charset="-120"/>
              </a:rPr>
              <a:t> All 44 sensor nodes remained alive at termination.</a:t>
            </a:r>
            <a:endParaRPr lang="en-US" sz="1250" dirty="0"/>
          </a:p>
        </p:txBody>
      </p:sp>
      <p:sp>
        <p:nvSpPr>
          <p:cNvPr id="23" name="Text 20"/>
          <p:cNvSpPr/>
          <p:nvPr/>
        </p:nvSpPr>
        <p:spPr>
          <a:xfrm>
            <a:off x="6172200" y="4572000"/>
            <a:ext cx="5303520" cy="777240"/>
          </a:xfrm>
          <a:prstGeom prst="rect">
            <a:avLst/>
          </a:prstGeom>
          <a:noFill/>
          <a:ln/>
        </p:spPr>
        <p:txBody>
          <a:bodyPr wrap="square" lIns="0" tIns="0" rIns="0" bIns="0" rtlCol="0" anchor="ctr"/>
          <a:lstStyle/>
          <a:p>
            <a:pPr indent="0" marL="0">
              <a:lnSpc>
                <a:spcPct val="125000"/>
              </a:lnSpc>
              <a:buNone/>
            </a:pPr>
            <a:r>
              <a:rPr lang="en-US" sz="1100" i="1" dirty="0">
                <a:solidFill>
                  <a:srgbClr val="5C7684"/>
                </a:solidFill>
                <a:latin typeface="Calibri" pitchFamily="34" charset="0"/>
                <a:ea typeface="Calibri" pitchFamily="34" charset="-122"/>
                <a:cs typeface="Calibri" pitchFamily="34" charset="-120"/>
              </a:rPr>
              <a:t>Lowest-energy nodes at termination: S3 (0.0000201 J), S2 (0.0000210 J), S1 (0.0000508 J).</a:t>
            </a:r>
            <a:endParaRPr lang="en-US" sz="1100" dirty="0"/>
          </a:p>
        </p:txBody>
      </p:sp>
      <p:sp>
        <p:nvSpPr>
          <p:cNvPr id="24" name="Text 21"/>
          <p:cNvSpPr/>
          <p:nvPr/>
        </p:nvSpPr>
        <p:spPr>
          <a:xfrm>
            <a:off x="457200" y="5715000"/>
            <a:ext cx="11247120" cy="594360"/>
          </a:xfrm>
          <a:prstGeom prst="rect">
            <a:avLst/>
          </a:prstGeom>
          <a:noFill/>
          <a:ln/>
        </p:spPr>
        <p:txBody>
          <a:bodyPr wrap="square" lIns="0" tIns="0" rIns="0" bIns="0" rtlCol="0" anchor="ctr"/>
          <a:lstStyle/>
          <a:p>
            <a:pPr indent="0" marL="0">
              <a:lnSpc>
                <a:spcPct val="120000"/>
              </a:lnSpc>
              <a:buNone/>
            </a:pPr>
            <a:r>
              <a:rPr lang="en-US" sz="1150" i="1" dirty="0">
                <a:solidFill>
                  <a:srgbClr val="5C7684"/>
                </a:solidFill>
                <a:latin typeface="Calibri" pitchFamily="34" charset="0"/>
                <a:ea typeface="Calibri" pitchFamily="34" charset="-122"/>
                <a:cs typeface="Calibri" pitchFamily="34" charset="-120"/>
              </a:rPr>
              <a:t>9,189 is the round at which the routing table was exhausted of feasible paths — this is a route-availability limit, not a “first-node-death” lifetime metric.</a:t>
            </a:r>
            <a:endParaRPr lang="en-US" sz="1150" dirty="0"/>
          </a:p>
        </p:txBody>
      </p:sp>
      <p:sp>
        <p:nvSpPr>
          <p:cNvPr id="25" name="Text 22"/>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26" name="Text 23"/>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Published vs. Reconstructed Results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120640" cy="914400"/>
        </p:xfrm>
        <a:graphic>
          <a:graphicData uri="http://schemas.openxmlformats.org/drawingml/2006/table">
            <a:tbl>
              <a:tblPr/>
              <a:tblGrid>
                <a:gridCol w="2468880"/>
                <a:gridCol w="1371600"/>
                <a:gridCol w="1280160"/>
              </a:tblGrid>
              <a:tr h="5029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Lifetime (rounds)</a:t>
                      </a:r>
                      <a:endParaRPr lang="en-US" sz="12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Data (Kbits)</a:t>
                      </a:r>
                      <a:endParaRPr lang="en-US" sz="12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r>
              <a:tr h="502920">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Published Q-learning</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6,260</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3,205.12</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16242C"/>
                          </a:solidFill>
                          <a:latin typeface="Calibri" pitchFamily="34" charset="0"/>
                          <a:ea typeface="Calibri" pitchFamily="34" charset="-122"/>
                          <a:cs typeface="Calibri" pitchFamily="34" charset="-120"/>
                        </a:rPr>
                        <a:t>Published Dijkstra</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2,737</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150" b="1" dirty="0">
                          <a:solidFill>
                            <a:srgbClr val="16242C"/>
                          </a:solidFill>
                          <a:latin typeface="Calibri" pitchFamily="34" charset="0"/>
                          <a:ea typeface="Calibri" pitchFamily="34" charset="-122"/>
                          <a:cs typeface="Calibri" pitchFamily="34" charset="-120"/>
                        </a:rPr>
                        <a:t>1,401.34</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Our Reconstructed Q-learning</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9,189</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4,704.77</a:t>
                      </a:r>
                      <a:endParaRPr lang="en-US" sz="11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r>
            </a:tbl>
          </a:graphicData>
        </a:graphic>
      </p:graphicFrame>
      <p:graphicFrame>
        <p:nvGraphicFramePr>
          <p:cNvPr id="5" name="Chart 0" descr=""/>
          <p:cNvGraphicFramePr/>
          <p:nvPr/>
        </p:nvGraphicFramePr>
        <p:xfrm>
          <a:off x="5760720" y="1371600"/>
          <a:ext cx="594360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760720" y="3749040"/>
          <a:ext cx="5943600" cy="23317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457200" y="3977640"/>
            <a:ext cx="5120640" cy="2331720"/>
          </a:xfrm>
          <a:prstGeom prst="roundRect">
            <a:avLst>
              <a:gd name="adj" fmla="val 3529"/>
            </a:avLst>
          </a:prstGeom>
          <a:solidFill>
            <a:srgbClr val="FDF3E3"/>
          </a:solidFill>
          <a:ln w="15875">
            <a:solidFill>
              <a:srgbClr val="E8A13A"/>
            </a:solidFill>
            <a:prstDash val="solid"/>
          </a:ln>
        </p:spPr>
      </p:sp>
      <p:sp>
        <p:nvSpPr>
          <p:cNvPr id="8" name="Text 3"/>
          <p:cNvSpPr/>
          <p:nvPr/>
        </p:nvSpPr>
        <p:spPr>
          <a:xfrm>
            <a:off x="685800" y="4160520"/>
            <a:ext cx="4663440" cy="320040"/>
          </a:xfrm>
          <a:prstGeom prst="rect">
            <a:avLst/>
          </a:prstGeom>
          <a:noFill/>
          <a:ln/>
        </p:spPr>
        <p:txBody>
          <a:bodyPr wrap="square" lIns="0" tIns="0" rIns="0" bIns="0" rtlCol="0" anchor="ctr"/>
          <a:lstStyle/>
          <a:p>
            <a:pPr indent="0" marL="0">
              <a:buNone/>
            </a:pPr>
            <a:r>
              <a:rPr lang="en-US" sz="1300" b="1" dirty="0">
                <a:solidFill>
                  <a:srgbClr val="6B4A12"/>
                </a:solidFill>
                <a:latin typeface="Calibri" pitchFamily="34" charset="0"/>
                <a:ea typeface="Calibri" pitchFamily="34" charset="-122"/>
                <a:cs typeface="Calibri" pitchFamily="34" charset="-120"/>
              </a:rPr>
              <a:t>Not claimed as an improvement</a:t>
            </a:r>
            <a:endParaRPr lang="en-US" sz="1300" dirty="0"/>
          </a:p>
        </p:txBody>
      </p:sp>
      <p:sp>
        <p:nvSpPr>
          <p:cNvPr id="9" name="Text 4"/>
          <p:cNvSpPr/>
          <p:nvPr/>
        </p:nvSpPr>
        <p:spPr>
          <a:xfrm>
            <a:off x="685800" y="4526280"/>
            <a:ext cx="4663440" cy="914400"/>
          </a:xfrm>
          <a:prstGeom prst="rect">
            <a:avLst/>
          </a:prstGeom>
          <a:noFill/>
          <a:ln/>
        </p:spPr>
        <p:txBody>
          <a:bodyPr wrap="square" lIns="0" tIns="0" rIns="0" bIns="0" rtlCol="0" anchor="ctr"/>
          <a:lstStyle/>
          <a:p>
            <a:pPr indent="0" marL="0">
              <a:lnSpc>
                <a:spcPct val="125000"/>
              </a:lnSpc>
              <a:buNone/>
            </a:pPr>
            <a:r>
              <a:rPr lang="en-US" sz="1150" dirty="0">
                <a:solidFill>
                  <a:srgbClr val="6B4A12"/>
                </a:solidFill>
                <a:latin typeface="Calibri" pitchFamily="34" charset="0"/>
                <a:ea typeface="Calibri" pitchFamily="34" charset="-122"/>
                <a:cs typeface="Calibri" pitchFamily="34" charset="-120"/>
              </a:rPr>
              <a:t>The higher round count and data volume are not interpreted as outperforming the original method. The exact topology, coordinate table, and several simulation parameters were unavailable and had to be reconstructed or assumed.</a:t>
            </a:r>
            <a:endParaRPr lang="en-US" sz="1150" dirty="0"/>
          </a:p>
        </p:txBody>
      </p:sp>
      <p:sp>
        <p:nvSpPr>
          <p:cNvPr id="10" name="Text 5"/>
          <p:cNvSpPr/>
          <p:nvPr/>
        </p:nvSpPr>
        <p:spPr>
          <a:xfrm>
            <a:off x="685800" y="5440680"/>
            <a:ext cx="4663440" cy="822960"/>
          </a:xfrm>
          <a:prstGeom prst="rect">
            <a:avLst/>
          </a:prstGeom>
          <a:noFill/>
          <a:ln/>
        </p:spPr>
        <p:txBody>
          <a:bodyPr wrap="square" lIns="0" tIns="0" rIns="0" bIns="0" rtlCol="0" anchor="ctr"/>
          <a:lstStyle/>
          <a:p>
            <a:pPr indent="0" marL="0">
              <a:lnSpc>
                <a:spcPct val="120000"/>
              </a:lnSpc>
              <a:buNone/>
            </a:pPr>
            <a:r>
              <a:rPr lang="en-US" sz="1100" i="1" dirty="0">
                <a:solidFill>
                  <a:srgbClr val="6B4A12"/>
                </a:solidFill>
                <a:latin typeface="Calibri" pitchFamily="34" charset="0"/>
                <a:ea typeface="Calibri" pitchFamily="34" charset="-122"/>
                <a:cs typeface="Calibri" pitchFamily="34" charset="-120"/>
              </a:rPr>
              <a:t>This indicates the reconstructed methodology behaves consistently with — but not numerically identically to — the reference method under the stated assumptions.</a:t>
            </a:r>
            <a:endParaRPr lang="en-US" sz="1100" dirty="0"/>
          </a:p>
        </p:txBody>
      </p:sp>
      <p:sp>
        <p:nvSpPr>
          <p:cNvPr id="11" name="Text 6"/>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12" name="Text 7"/>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EXTENSION</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D₀ Sensitivity Analysis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669280" cy="914400"/>
        </p:xfrm>
        <a:graphic>
          <a:graphicData uri="http://schemas.openxmlformats.org/drawingml/2006/table">
            <a:tbl>
              <a:tblPr/>
              <a:tblGrid>
                <a:gridCol w="914400"/>
                <a:gridCol w="1188720"/>
                <a:gridCol w="1280160"/>
                <a:gridCol w="1143000"/>
                <a:gridCol w="114300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D₀ (m)</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Rounds</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Data (Kbits)</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Energy (J)</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Residual (J)</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065A82"/>
                    </a:solidFill>
                  </a:tcPr>
                </a:tc>
              </a:tr>
              <a:tr h="384048">
                <a:tc>
                  <a:txBody>
                    <a:bodyPr/>
                    <a:lstStyle/>
                    <a:p>
                      <a:pPr algn="ctr" indent="0" marL="0">
                        <a:buNone/>
                      </a:pPr>
                      <a:r>
                        <a:rPr lang="en-US" sz="1050" b="1" dirty="0">
                          <a:solidFill>
                            <a:srgbClr val="16242C"/>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9,088</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4,653.06</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4.164968</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17.835032</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6242C"/>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9,059</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4,638.21</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4.066465</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17.933535</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9,189</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4,704.77</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4.080833</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17.919167</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E8A13A"/>
                    </a:solidFill>
                  </a:tcPr>
                </a:tc>
              </a:tr>
              <a:tr h="384048">
                <a:tc>
                  <a:txBody>
                    <a:bodyPr/>
                    <a:lstStyle/>
                    <a:p>
                      <a:pPr algn="ctr" indent="0" marL="0">
                        <a:buNone/>
                      </a:pPr>
                      <a:r>
                        <a:rPr lang="en-US" sz="1050" b="1" dirty="0">
                          <a:solidFill>
                            <a:srgbClr val="16242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9,512</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4,870.14</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4.076632</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17.923368</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5F9FB"/>
                    </a:solidFill>
                  </a:tcPr>
                </a:tc>
              </a:tr>
              <a:tr h="384048">
                <a:tc>
                  <a:txBody>
                    <a:bodyPr/>
                    <a:lstStyle/>
                    <a:p>
                      <a:pPr algn="ctr" indent="0" marL="0">
                        <a:buNone/>
                      </a:pPr>
                      <a:r>
                        <a:rPr lang="en-US" sz="1050" b="1" dirty="0">
                          <a:solidFill>
                            <a:srgbClr val="16242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10,218</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5,231.62</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3.835497</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42C"/>
                          </a:solidFill>
                          <a:latin typeface="Calibri" pitchFamily="34" charset="0"/>
                          <a:ea typeface="Calibri" pitchFamily="34" charset="-122"/>
                          <a:cs typeface="Calibri" pitchFamily="34" charset="-120"/>
                        </a:rPr>
                        <a:t>18.164503</a:t>
                      </a:r>
                      <a:endParaRPr lang="en-US" sz="1050" dirty="0">
                        <a:latin typeface="Calibri" charset="0"/>
                        <a:ea typeface="Calibri" charset="0"/>
                        <a:cs typeface="Calibri" charset="0"/>
                      </a:endParaRPr>
                    </a:p>
                  </a:txBody>
                  <a:tcPr marL="91440" marR="91440" marT="45720" marB="45720">
                    <a:lnL w="9525" cap="flat" cmpd="sng" algn="ctr">
                      <a:solidFill>
                        <a:srgbClr val="D8E4E9"/>
                      </a:solidFill>
                      <a:prstDash val="solid"/>
                      <a:round/>
                      <a:headEnd type="none" w="med" len="med"/>
                      <a:tailEnd type="none" w="med" len="med"/>
                    </a:lnL>
                    <a:lnR w="9525" cap="flat" cmpd="sng" algn="ctr">
                      <a:solidFill>
                        <a:srgbClr val="D8E4E9"/>
                      </a:solidFill>
                      <a:prstDash val="solid"/>
                      <a:round/>
                      <a:headEnd type="none" w="med" len="med"/>
                      <a:tailEnd type="none" w="med" len="med"/>
                    </a:lnR>
                    <a:lnT w="9525" cap="flat" cmpd="sng" algn="ctr">
                      <a:solidFill>
                        <a:srgbClr val="D8E4E9"/>
                      </a:solidFill>
                      <a:prstDash val="solid"/>
                      <a:round/>
                      <a:headEnd type="none" w="med" len="med"/>
                      <a:tailEnd type="none" w="med" len="med"/>
                    </a:lnT>
                    <a:lnB w="9525" cap="flat" cmpd="sng" algn="ctr">
                      <a:solidFill>
                        <a:srgbClr val="D8E4E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520440"/>
            <a:ext cx="5669280" cy="274320"/>
          </a:xfrm>
          <a:prstGeom prst="rect">
            <a:avLst/>
          </a:prstGeom>
          <a:noFill/>
          <a:ln/>
        </p:spPr>
        <p:txBody>
          <a:bodyPr wrap="square" lIns="0" tIns="0" rIns="0" bIns="0" rtlCol="0" anchor="ctr"/>
          <a:lstStyle/>
          <a:p>
            <a:pPr indent="0" marL="0">
              <a:buNone/>
            </a:pPr>
            <a:r>
              <a:rPr lang="en-US" sz="950" i="1" dirty="0">
                <a:solidFill>
                  <a:srgbClr val="5C7684"/>
                </a:solidFill>
                <a:latin typeface="Calibri" pitchFamily="34" charset="0"/>
                <a:ea typeface="Calibri" pitchFamily="34" charset="-122"/>
                <a:cs typeface="Calibri" pitchFamily="34" charset="-120"/>
              </a:rPr>
              <a:t>Amber row = frozen baseline (D₀ = 4 m) used in Slides 8–9.</a:t>
            </a:r>
            <a:endParaRPr lang="en-US" sz="950" dirty="0"/>
          </a:p>
        </p:txBody>
      </p:sp>
      <p:graphicFrame>
        <p:nvGraphicFramePr>
          <p:cNvPr id="6" name="Chart 0" descr=""/>
          <p:cNvGraphicFramePr/>
          <p:nvPr/>
        </p:nvGraphicFramePr>
        <p:xfrm>
          <a:off x="6355080" y="1371600"/>
          <a:ext cx="5394960" cy="17830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355080" y="3291840"/>
          <a:ext cx="5394960" cy="178308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457200" y="3931920"/>
            <a:ext cx="5669280" cy="2331720"/>
          </a:xfrm>
          <a:prstGeom prst="roundRect">
            <a:avLst>
              <a:gd name="adj" fmla="val 3529"/>
            </a:avLst>
          </a:prstGeom>
          <a:solidFill>
            <a:srgbClr val="F5F9FB"/>
          </a:solidFill>
          <a:ln w="12700">
            <a:solidFill>
              <a:srgbClr val="D8E4E9"/>
            </a:solidFill>
            <a:prstDash val="solid"/>
          </a:ln>
        </p:spPr>
      </p:sp>
      <p:sp>
        <p:nvSpPr>
          <p:cNvPr id="9" name="Text 4"/>
          <p:cNvSpPr/>
          <p:nvPr/>
        </p:nvSpPr>
        <p:spPr>
          <a:xfrm>
            <a:off x="731520" y="4114800"/>
            <a:ext cx="512064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Why this is the extension</a:t>
            </a:r>
            <a:endParaRPr lang="en-US" sz="1300" dirty="0"/>
          </a:p>
        </p:txBody>
      </p:sp>
      <p:sp>
        <p:nvSpPr>
          <p:cNvPr id="10" name="Text 5"/>
          <p:cNvSpPr/>
          <p:nvPr/>
        </p:nvSpPr>
        <p:spPr>
          <a:xfrm>
            <a:off x="731520" y="4480560"/>
            <a:ext cx="5120640" cy="169164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150" dirty="0">
                <a:solidFill>
                  <a:srgbClr val="16242C"/>
                </a:solidFill>
                <a:latin typeface="Calibri" pitchFamily="34" charset="0"/>
                <a:ea typeface="Calibri" pitchFamily="34" charset="-122"/>
                <a:cs typeface="Calibri" pitchFamily="34" charset="-120"/>
              </a:rPr>
              <a:t>D₀ governs when the propagation exponent switches from β=2 to β=4</a:t>
            </a:r>
            <a:endParaRPr lang="en-US" sz="1150" dirty="0"/>
          </a:p>
          <a:p>
            <a:pPr marL="342900" indent="-342900">
              <a:lnSpc>
                <a:spcPct val="125000"/>
              </a:lnSpc>
              <a:spcAft>
                <a:spcPts val="500"/>
              </a:spcAft>
              <a:buSzPct val="100000"/>
              <a:buChar char="✦"/>
            </a:pPr>
            <a:r>
              <a:rPr lang="en-US" sz="1150" dirty="0">
                <a:solidFill>
                  <a:srgbClr val="16242C"/>
                </a:solidFill>
                <a:latin typeface="Calibri" pitchFamily="34" charset="0"/>
                <a:ea typeface="Calibri" pitchFamily="34" charset="-122"/>
                <a:cs typeface="Calibri" pitchFamily="34" charset="-120"/>
              </a:rPr>
              <a:t>Lifetime is non-monotonic: D₀=3 m gives fewer rounds than D₀=2 m</a:t>
            </a:r>
            <a:endParaRPr lang="en-US" sz="1150" dirty="0"/>
          </a:p>
          <a:p>
            <a:pPr marL="342900" indent="-342900">
              <a:lnSpc>
                <a:spcPct val="125000"/>
              </a:lnSpc>
              <a:spcAft>
                <a:spcPts val="500"/>
              </a:spcAft>
              <a:buSzPct val="100000"/>
              <a:buChar char="✦"/>
            </a:pPr>
            <a:r>
              <a:rPr lang="en-US" sz="1150" dirty="0">
                <a:solidFill>
                  <a:srgbClr val="16242C"/>
                </a:solidFill>
                <a:latin typeface="Calibri" pitchFamily="34" charset="0"/>
                <a:ea typeface="Calibri" pitchFamily="34" charset="-122"/>
                <a:cs typeface="Calibri" pitchFamily="34" charset="-120"/>
              </a:rPr>
              <a:t>D₀=5 m and D₀=6 m yield progressively longer lifetimes</a:t>
            </a:r>
            <a:endParaRPr lang="en-US" sz="1150" dirty="0"/>
          </a:p>
          <a:p>
            <a:pPr marL="342900" indent="-342900">
              <a:lnSpc>
                <a:spcPct val="125000"/>
              </a:lnSpc>
              <a:spcAft>
                <a:spcPts val="500"/>
              </a:spcAft>
              <a:buSzPct val="100000"/>
              <a:buChar char="✦"/>
            </a:pPr>
            <a:r>
              <a:rPr lang="en-US" sz="1150" dirty="0">
                <a:solidFill>
                  <a:srgbClr val="16242C"/>
                </a:solidFill>
                <a:latin typeface="Calibri" pitchFamily="34" charset="0"/>
                <a:ea typeface="Calibri" pitchFamily="34" charset="-122"/>
                <a:cs typeface="Calibri" pitchFamily="34" charset="-120"/>
              </a:rPr>
              <a:t>Goes beyond the frozen reconstruction — tests sensitivity to a key assumed parameter</a:t>
            </a:r>
            <a:endParaRPr lang="en-US" sz="1150" dirty="0"/>
          </a:p>
        </p:txBody>
      </p:sp>
      <p:sp>
        <p:nvSpPr>
          <p:cNvPr id="11" name="Text 6"/>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12" name="Text 7"/>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914400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DEMONSTRATION LAYER</a:t>
            </a:r>
            <a:endParaRPr lang="en-US" sz="1200" dirty="0"/>
          </a:p>
        </p:txBody>
      </p:sp>
      <p:sp>
        <p:nvSpPr>
          <p:cNvPr id="3" name="Text 1"/>
          <p:cNvSpPr/>
          <p:nvPr/>
        </p:nvSpPr>
        <p:spPr>
          <a:xfrm>
            <a:off x="457200" y="603504"/>
            <a:ext cx="11247120" cy="658368"/>
          </a:xfrm>
          <a:prstGeom prst="rect">
            <a:avLst/>
          </a:prstGeom>
          <a:noFill/>
          <a:ln/>
        </p:spPr>
        <p:txBody>
          <a:bodyPr wrap="square" lIns="0" tIns="0" rIns="0" bIns="0" rtlCol="0" anchor="ctr"/>
          <a:lstStyle/>
          <a:p>
            <a:pPr indent="0" marL="0">
              <a:buNone/>
            </a:pPr>
            <a:r>
              <a:rPr lang="en-US" sz="3000" b="1" dirty="0">
                <a:solidFill>
                  <a:srgbClr val="16242C"/>
                </a:solidFill>
                <a:latin typeface="Cambria" pitchFamily="34" charset="0"/>
                <a:ea typeface="Cambria" pitchFamily="34" charset="-122"/>
                <a:cs typeface="Cambria" pitchFamily="34" charset="-120"/>
              </a:rPr>
              <a:t>Streamlit Interactive Demonstration</a:t>
            </a:r>
            <a:endParaRPr lang="en-US" sz="3000" dirty="0"/>
          </a:p>
        </p:txBody>
      </p:sp>
      <p:sp>
        <p:nvSpPr>
          <p:cNvPr id="4" name="Shape 2"/>
          <p:cNvSpPr/>
          <p:nvPr/>
        </p:nvSpPr>
        <p:spPr>
          <a:xfrm>
            <a:off x="457200" y="1463040"/>
            <a:ext cx="3520440" cy="868680"/>
          </a:xfrm>
          <a:prstGeom prst="roundRect">
            <a:avLst>
              <a:gd name="adj" fmla="val 8421"/>
            </a:avLst>
          </a:prstGeom>
          <a:solidFill>
            <a:srgbClr val="F5F9FB"/>
          </a:solidFill>
          <a:ln w="12700">
            <a:solidFill>
              <a:srgbClr val="D8E4E9"/>
            </a:solidFill>
            <a:prstDash val="solid"/>
          </a:ln>
        </p:spPr>
      </p:sp>
      <p:sp>
        <p:nvSpPr>
          <p:cNvPr id="5" name="Shape 3"/>
          <p:cNvSpPr/>
          <p:nvPr/>
        </p:nvSpPr>
        <p:spPr>
          <a:xfrm>
            <a:off x="603504" y="1741932"/>
            <a:ext cx="310896" cy="310896"/>
          </a:xfrm>
          <a:prstGeom prst="roundRect">
            <a:avLst>
              <a:gd name="adj" fmla="val 50000"/>
            </a:avLst>
          </a:prstGeom>
          <a:solidFill>
            <a:srgbClr val="1C7293"/>
          </a:solidFill>
          <a:ln/>
        </p:spPr>
      </p:sp>
      <p:sp>
        <p:nvSpPr>
          <p:cNvPr id="6" name="Text 4"/>
          <p:cNvSpPr/>
          <p:nvPr/>
        </p:nvSpPr>
        <p:spPr>
          <a:xfrm>
            <a:off x="603504" y="174193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7" name="Text 5"/>
          <p:cNvSpPr/>
          <p:nvPr/>
        </p:nvSpPr>
        <p:spPr>
          <a:xfrm>
            <a:off x="1005840" y="146304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3D WSN visualization</a:t>
            </a:r>
            <a:endParaRPr lang="en-US" sz="1250" dirty="0"/>
          </a:p>
        </p:txBody>
      </p:sp>
      <p:sp>
        <p:nvSpPr>
          <p:cNvPr id="8" name="Shape 6"/>
          <p:cNvSpPr/>
          <p:nvPr/>
        </p:nvSpPr>
        <p:spPr>
          <a:xfrm>
            <a:off x="4160520" y="1463040"/>
            <a:ext cx="3520440" cy="868680"/>
          </a:xfrm>
          <a:prstGeom prst="roundRect">
            <a:avLst>
              <a:gd name="adj" fmla="val 8421"/>
            </a:avLst>
          </a:prstGeom>
          <a:solidFill>
            <a:srgbClr val="F5F9FB"/>
          </a:solidFill>
          <a:ln w="12700">
            <a:solidFill>
              <a:srgbClr val="D8E4E9"/>
            </a:solidFill>
            <a:prstDash val="solid"/>
          </a:ln>
        </p:spPr>
      </p:sp>
      <p:sp>
        <p:nvSpPr>
          <p:cNvPr id="9" name="Shape 7"/>
          <p:cNvSpPr/>
          <p:nvPr/>
        </p:nvSpPr>
        <p:spPr>
          <a:xfrm>
            <a:off x="4306824" y="1741932"/>
            <a:ext cx="310896" cy="310896"/>
          </a:xfrm>
          <a:prstGeom prst="roundRect">
            <a:avLst>
              <a:gd name="adj" fmla="val 50000"/>
            </a:avLst>
          </a:prstGeom>
          <a:solidFill>
            <a:srgbClr val="1C7293"/>
          </a:solidFill>
          <a:ln/>
        </p:spPr>
      </p:sp>
      <p:sp>
        <p:nvSpPr>
          <p:cNvPr id="10" name="Text 8"/>
          <p:cNvSpPr/>
          <p:nvPr/>
        </p:nvSpPr>
        <p:spPr>
          <a:xfrm>
            <a:off x="4306824" y="174193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11" name="Text 9"/>
          <p:cNvSpPr/>
          <p:nvPr/>
        </p:nvSpPr>
        <p:spPr>
          <a:xfrm>
            <a:off x="4709160" y="146304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Source node selection</a:t>
            </a:r>
            <a:endParaRPr lang="en-US" sz="1250" dirty="0"/>
          </a:p>
        </p:txBody>
      </p:sp>
      <p:sp>
        <p:nvSpPr>
          <p:cNvPr id="12" name="Shape 10"/>
          <p:cNvSpPr/>
          <p:nvPr/>
        </p:nvSpPr>
        <p:spPr>
          <a:xfrm>
            <a:off x="7863840" y="1463040"/>
            <a:ext cx="3520440" cy="868680"/>
          </a:xfrm>
          <a:prstGeom prst="roundRect">
            <a:avLst>
              <a:gd name="adj" fmla="val 8421"/>
            </a:avLst>
          </a:prstGeom>
          <a:solidFill>
            <a:srgbClr val="F5F9FB"/>
          </a:solidFill>
          <a:ln w="12700">
            <a:solidFill>
              <a:srgbClr val="D8E4E9"/>
            </a:solidFill>
            <a:prstDash val="solid"/>
          </a:ln>
        </p:spPr>
      </p:sp>
      <p:sp>
        <p:nvSpPr>
          <p:cNvPr id="13" name="Shape 11"/>
          <p:cNvSpPr/>
          <p:nvPr/>
        </p:nvSpPr>
        <p:spPr>
          <a:xfrm>
            <a:off x="8010144" y="1741932"/>
            <a:ext cx="310896" cy="310896"/>
          </a:xfrm>
          <a:prstGeom prst="roundRect">
            <a:avLst>
              <a:gd name="adj" fmla="val 50000"/>
            </a:avLst>
          </a:prstGeom>
          <a:solidFill>
            <a:srgbClr val="1C7293"/>
          </a:solidFill>
          <a:ln/>
        </p:spPr>
      </p:sp>
      <p:sp>
        <p:nvSpPr>
          <p:cNvPr id="14" name="Text 12"/>
          <p:cNvSpPr/>
          <p:nvPr/>
        </p:nvSpPr>
        <p:spPr>
          <a:xfrm>
            <a:off x="8010144" y="174193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15" name="Text 13"/>
          <p:cNvSpPr/>
          <p:nvPr/>
        </p:nvSpPr>
        <p:spPr>
          <a:xfrm>
            <a:off x="8412480" y="146304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Route visualization</a:t>
            </a:r>
            <a:endParaRPr lang="en-US" sz="1250" dirty="0"/>
          </a:p>
        </p:txBody>
      </p:sp>
      <p:sp>
        <p:nvSpPr>
          <p:cNvPr id="16" name="Shape 14"/>
          <p:cNvSpPr/>
          <p:nvPr/>
        </p:nvSpPr>
        <p:spPr>
          <a:xfrm>
            <a:off x="457200" y="2514600"/>
            <a:ext cx="3520440" cy="868680"/>
          </a:xfrm>
          <a:prstGeom prst="roundRect">
            <a:avLst>
              <a:gd name="adj" fmla="val 8421"/>
            </a:avLst>
          </a:prstGeom>
          <a:solidFill>
            <a:srgbClr val="F5F9FB"/>
          </a:solidFill>
          <a:ln w="12700">
            <a:solidFill>
              <a:srgbClr val="D8E4E9"/>
            </a:solidFill>
            <a:prstDash val="solid"/>
          </a:ln>
        </p:spPr>
      </p:sp>
      <p:sp>
        <p:nvSpPr>
          <p:cNvPr id="17" name="Shape 15"/>
          <p:cNvSpPr/>
          <p:nvPr/>
        </p:nvSpPr>
        <p:spPr>
          <a:xfrm>
            <a:off x="603504" y="2793492"/>
            <a:ext cx="310896" cy="310896"/>
          </a:xfrm>
          <a:prstGeom prst="roundRect">
            <a:avLst>
              <a:gd name="adj" fmla="val 50000"/>
            </a:avLst>
          </a:prstGeom>
          <a:solidFill>
            <a:srgbClr val="1C7293"/>
          </a:solidFill>
          <a:ln/>
        </p:spPr>
      </p:sp>
      <p:sp>
        <p:nvSpPr>
          <p:cNvPr id="18" name="Text 16"/>
          <p:cNvSpPr/>
          <p:nvPr/>
        </p:nvSpPr>
        <p:spPr>
          <a:xfrm>
            <a:off x="603504" y="279349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05840" y="251460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Route-level metrics</a:t>
            </a:r>
            <a:endParaRPr lang="en-US" sz="1250" dirty="0"/>
          </a:p>
        </p:txBody>
      </p:sp>
      <p:sp>
        <p:nvSpPr>
          <p:cNvPr id="20" name="Shape 18"/>
          <p:cNvSpPr/>
          <p:nvPr/>
        </p:nvSpPr>
        <p:spPr>
          <a:xfrm>
            <a:off x="4160520" y="2514600"/>
            <a:ext cx="3520440" cy="868680"/>
          </a:xfrm>
          <a:prstGeom prst="roundRect">
            <a:avLst>
              <a:gd name="adj" fmla="val 8421"/>
            </a:avLst>
          </a:prstGeom>
          <a:solidFill>
            <a:srgbClr val="F5F9FB"/>
          </a:solidFill>
          <a:ln w="12700">
            <a:solidFill>
              <a:srgbClr val="D8E4E9"/>
            </a:solidFill>
            <a:prstDash val="solid"/>
          </a:ln>
        </p:spPr>
      </p:sp>
      <p:sp>
        <p:nvSpPr>
          <p:cNvPr id="21" name="Shape 19"/>
          <p:cNvSpPr/>
          <p:nvPr/>
        </p:nvSpPr>
        <p:spPr>
          <a:xfrm>
            <a:off x="4306824" y="2793492"/>
            <a:ext cx="310896" cy="310896"/>
          </a:xfrm>
          <a:prstGeom prst="roundRect">
            <a:avLst>
              <a:gd name="adj" fmla="val 50000"/>
            </a:avLst>
          </a:prstGeom>
          <a:solidFill>
            <a:srgbClr val="1C7293"/>
          </a:solidFill>
          <a:ln/>
        </p:spPr>
      </p:sp>
      <p:sp>
        <p:nvSpPr>
          <p:cNvPr id="22" name="Text 20"/>
          <p:cNvSpPr/>
          <p:nvPr/>
        </p:nvSpPr>
        <p:spPr>
          <a:xfrm>
            <a:off x="4306824" y="279349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23" name="Text 21"/>
          <p:cNvSpPr/>
          <p:nvPr/>
        </p:nvSpPr>
        <p:spPr>
          <a:xfrm>
            <a:off x="4709160" y="251460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Final experiment results</a:t>
            </a:r>
            <a:endParaRPr lang="en-US" sz="1250" dirty="0"/>
          </a:p>
        </p:txBody>
      </p:sp>
      <p:sp>
        <p:nvSpPr>
          <p:cNvPr id="24" name="Shape 22"/>
          <p:cNvSpPr/>
          <p:nvPr/>
        </p:nvSpPr>
        <p:spPr>
          <a:xfrm>
            <a:off x="7863840" y="2514600"/>
            <a:ext cx="3520440" cy="868680"/>
          </a:xfrm>
          <a:prstGeom prst="roundRect">
            <a:avLst>
              <a:gd name="adj" fmla="val 8421"/>
            </a:avLst>
          </a:prstGeom>
          <a:solidFill>
            <a:srgbClr val="F5F9FB"/>
          </a:solidFill>
          <a:ln w="12700">
            <a:solidFill>
              <a:srgbClr val="D8E4E9"/>
            </a:solidFill>
            <a:prstDash val="solid"/>
          </a:ln>
        </p:spPr>
      </p:sp>
      <p:sp>
        <p:nvSpPr>
          <p:cNvPr id="25" name="Shape 23"/>
          <p:cNvSpPr/>
          <p:nvPr/>
        </p:nvSpPr>
        <p:spPr>
          <a:xfrm>
            <a:off x="8010144" y="2793492"/>
            <a:ext cx="310896" cy="310896"/>
          </a:xfrm>
          <a:prstGeom prst="roundRect">
            <a:avLst>
              <a:gd name="adj" fmla="val 50000"/>
            </a:avLst>
          </a:prstGeom>
          <a:solidFill>
            <a:srgbClr val="1C7293"/>
          </a:solidFill>
          <a:ln/>
        </p:spPr>
      </p:sp>
      <p:sp>
        <p:nvSpPr>
          <p:cNvPr id="26" name="Text 24"/>
          <p:cNvSpPr/>
          <p:nvPr/>
        </p:nvSpPr>
        <p:spPr>
          <a:xfrm>
            <a:off x="8010144" y="279349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27" name="Text 25"/>
          <p:cNvSpPr/>
          <p:nvPr/>
        </p:nvSpPr>
        <p:spPr>
          <a:xfrm>
            <a:off x="8412480" y="2514600"/>
            <a:ext cx="2834640" cy="868680"/>
          </a:xfrm>
          <a:prstGeom prst="rect">
            <a:avLst/>
          </a:prstGeom>
          <a:noFill/>
          <a:ln/>
        </p:spPr>
        <p:txBody>
          <a:bodyPr wrap="square" lIns="0" tIns="0" rIns="0" bIns="0" rtlCol="0" anchor="ctr"/>
          <a:lstStyle/>
          <a:p>
            <a:pPr indent="0" marL="0">
              <a:buNone/>
            </a:pPr>
            <a:r>
              <a:rPr lang="en-US" sz="1250" b="1" dirty="0">
                <a:solidFill>
                  <a:srgbClr val="16242C"/>
                </a:solidFill>
                <a:latin typeface="Calibri" pitchFamily="34" charset="0"/>
                <a:ea typeface="Calibri" pitchFamily="34" charset="-122"/>
                <a:cs typeface="Calibri" pitchFamily="34" charset="-120"/>
              </a:rPr>
              <a:t>D0 sensitivity results</a:t>
            </a:r>
            <a:endParaRPr lang="en-US" sz="1250" dirty="0"/>
          </a:p>
        </p:txBody>
      </p:sp>
      <p:sp>
        <p:nvSpPr>
          <p:cNvPr id="28" name="Shape 26"/>
          <p:cNvSpPr/>
          <p:nvPr/>
        </p:nvSpPr>
        <p:spPr>
          <a:xfrm>
            <a:off x="457200" y="3611880"/>
            <a:ext cx="11247120" cy="1234440"/>
          </a:xfrm>
          <a:prstGeom prst="roundRect">
            <a:avLst>
              <a:gd name="adj" fmla="val 6667"/>
            </a:avLst>
          </a:prstGeom>
          <a:solidFill>
            <a:srgbClr val="FDF3E3"/>
          </a:solidFill>
          <a:ln w="15875">
            <a:solidFill>
              <a:srgbClr val="E8A13A"/>
            </a:solidFill>
            <a:prstDash val="solid"/>
          </a:ln>
        </p:spPr>
      </p:sp>
      <p:sp>
        <p:nvSpPr>
          <p:cNvPr id="29" name="Text 27"/>
          <p:cNvSpPr/>
          <p:nvPr/>
        </p:nvSpPr>
        <p:spPr>
          <a:xfrm>
            <a:off x="640080" y="3611880"/>
            <a:ext cx="548640" cy="1234440"/>
          </a:xfrm>
          <a:prstGeom prst="rect">
            <a:avLst/>
          </a:prstGeom>
          <a:noFill/>
          <a:ln/>
        </p:spPr>
        <p:txBody>
          <a:bodyPr wrap="square" lIns="0" tIns="0" rIns="0" bIns="0" rtlCol="0" anchor="ctr"/>
          <a:lstStyle/>
          <a:p>
            <a:pPr algn="ctr" indent="0" marL="0">
              <a:buNone/>
            </a:pPr>
            <a:r>
              <a:rPr lang="en-US" sz="2400" dirty="0">
                <a:solidFill>
                  <a:srgbClr val="E8A13A"/>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1234440" y="3611880"/>
            <a:ext cx="10241280" cy="1234440"/>
          </a:xfrm>
          <a:prstGeom prst="rect">
            <a:avLst/>
          </a:prstGeom>
          <a:noFill/>
          <a:ln/>
        </p:spPr>
        <p:txBody>
          <a:bodyPr wrap="square" lIns="0" tIns="0" rIns="0" bIns="0" rtlCol="0" anchor="ctr"/>
          <a:lstStyle/>
          <a:p>
            <a:pPr indent="0" marL="0">
              <a:lnSpc>
                <a:spcPct val="125000"/>
              </a:lnSpc>
              <a:buNone/>
            </a:pPr>
            <a:r>
              <a:rPr lang="en-US" sz="1300" b="1" i="1" dirty="0">
                <a:solidFill>
                  <a:srgbClr val="6B4A12"/>
                </a:solidFill>
                <a:latin typeface="Calibri" pitchFamily="34" charset="0"/>
                <a:ea typeface="Calibri" pitchFamily="34" charset="-122"/>
                <a:cs typeface="Calibri" pitchFamily="34" charset="-120"/>
              </a:rPr>
              <a:t>S1 uses the recorded, audited route from the experiments. </a:t>
            </a:r>
            <a:pPr indent="0" marL="0">
              <a:lnSpc>
                <a:spcPct val="125000"/>
              </a:lnSpc>
              <a:buNone/>
            </a:pPr>
            <a:r>
              <a:rPr lang="en-US" sz="1300" i="1" dirty="0">
                <a:solidFill>
                  <a:srgbClr val="6B4A12"/>
                </a:solidFill>
                <a:latin typeface="Calibri" pitchFamily="34" charset="0"/>
                <a:ea typeface="Calibri" pitchFamily="34" charset="-122"/>
                <a:cs typeface="Calibri" pitchFamily="34" charset="-120"/>
              </a:rPr>
              <a:t>S2–S4 are feasible routing demonstrations on the reconstructed network and are not claimed as recorded Q-learning experimental selections.</a:t>
            </a:r>
            <a:endParaRPr lang="en-US" sz="1300" dirty="0"/>
          </a:p>
        </p:txBody>
      </p:sp>
      <p:sp>
        <p:nvSpPr>
          <p:cNvPr id="31" name="Text 29"/>
          <p:cNvSpPr/>
          <p:nvPr/>
        </p:nvSpPr>
        <p:spPr>
          <a:xfrm>
            <a:off x="457200" y="5074920"/>
            <a:ext cx="11247120" cy="457200"/>
          </a:xfrm>
          <a:prstGeom prst="rect">
            <a:avLst/>
          </a:prstGeom>
          <a:noFill/>
          <a:ln/>
        </p:spPr>
        <p:txBody>
          <a:bodyPr wrap="square" lIns="0" tIns="0" rIns="0" bIns="0" rtlCol="0" anchor="ctr"/>
          <a:lstStyle/>
          <a:p>
            <a:pPr indent="0" marL="0">
              <a:buNone/>
            </a:pPr>
            <a:r>
              <a:rPr lang="en-US" sz="1200" i="1" dirty="0">
                <a:solidFill>
                  <a:srgbClr val="5C7684"/>
                </a:solidFill>
                <a:latin typeface="Calibri" pitchFamily="34" charset="0"/>
                <a:ea typeface="Calibri" pitchFamily="34" charset="-122"/>
                <a:cs typeface="Calibri" pitchFamily="34" charset="-120"/>
              </a:rPr>
              <a:t>The dashboard turns the notebook's static experiment outputs into an explorable, presentation-ready visual layer.</a:t>
            </a:r>
            <a:endParaRPr lang="en-US" sz="1200" dirty="0"/>
          </a:p>
        </p:txBody>
      </p:sp>
      <p:sp>
        <p:nvSpPr>
          <p:cNvPr id="32" name="Text 30"/>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33" name="Text 31"/>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44"/>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E8A13A"/>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and Future Work</a:t>
            </a:r>
            <a:endParaRPr lang="en-US" sz="3000" dirty="0"/>
          </a:p>
        </p:txBody>
      </p:sp>
      <p:sp>
        <p:nvSpPr>
          <p:cNvPr id="4" name="Shape 2"/>
          <p:cNvSpPr/>
          <p:nvPr/>
        </p:nvSpPr>
        <p:spPr>
          <a:xfrm>
            <a:off x="548640" y="1600200"/>
            <a:ext cx="6675120" cy="3977640"/>
          </a:xfrm>
          <a:prstGeom prst="roundRect">
            <a:avLst>
              <a:gd name="adj" fmla="val 2069"/>
            </a:avLst>
          </a:prstGeom>
          <a:solidFill>
            <a:srgbClr val="0F3D57"/>
          </a:solidFill>
          <a:ln w="12700">
            <a:solidFill>
              <a:srgbClr val="1C567A"/>
            </a:solidFill>
            <a:prstDash val="solid"/>
          </a:ln>
        </p:spPr>
      </p:sp>
      <p:sp>
        <p:nvSpPr>
          <p:cNvPr id="5" name="Text 3"/>
          <p:cNvSpPr/>
          <p:nvPr/>
        </p:nvSpPr>
        <p:spPr>
          <a:xfrm>
            <a:off x="822960" y="1783080"/>
            <a:ext cx="6126480" cy="292608"/>
          </a:xfrm>
          <a:prstGeom prst="rect">
            <a:avLst/>
          </a:prstGeom>
          <a:noFill/>
          <a:ln/>
        </p:spPr>
        <p:txBody>
          <a:bodyPr wrap="square" lIns="0" tIns="0" rIns="0" bIns="0" rtlCol="0" anchor="ctr"/>
          <a:lstStyle/>
          <a:p>
            <a:pPr indent="0" marL="0">
              <a:buNone/>
            </a:pPr>
            <a:r>
              <a:rPr lang="en-US" sz="1350" b="1" dirty="0">
                <a:solidFill>
                  <a:srgbClr val="E8A13A"/>
                </a:solidFill>
                <a:latin typeface="Calibri" pitchFamily="34" charset="0"/>
                <a:ea typeface="Calibri" pitchFamily="34" charset="-122"/>
                <a:cs typeface="Calibri" pitchFamily="34" charset="-120"/>
              </a:rPr>
              <a:t>What was accomplished</a:t>
            </a:r>
            <a:endParaRPr lang="en-US" sz="1350" dirty="0"/>
          </a:p>
        </p:txBody>
      </p:sp>
      <p:sp>
        <p:nvSpPr>
          <p:cNvPr id="6" name="Text 4"/>
          <p:cNvSpPr/>
          <p:nvPr/>
        </p:nvSpPr>
        <p:spPr>
          <a:xfrm>
            <a:off x="822960" y="2121408"/>
            <a:ext cx="6126480" cy="3291840"/>
          </a:xfrm>
          <a:prstGeom prst="rect">
            <a:avLst/>
          </a:prstGeom>
          <a:noFill/>
          <a:ln/>
        </p:spPr>
        <p:txBody>
          <a:bodyPr wrap="square" lIns="0" tIns="0" rIns="0" bIns="0" rtlCol="0" anchor="ctr"/>
          <a:lstStyle/>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Methodology reconstructed (reward, energy model, propagation model, Q-update)</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45-node, 3D experiment completed — 9,189 rounds, 4,704.77 Kbits, 44/44 nodes alive</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Energy feasibility incorporated with bounded, audited deductions</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Results compared transparently against published Q-learning and Dijkstra values</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D0 sensitivity extension performed (2–6 m)</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Reproducible notebook and GitHub repository prepared</a:t>
            </a:r>
            <a:endParaRPr lang="en-US" sz="1200" dirty="0"/>
          </a:p>
          <a:p>
            <a:pPr marL="342900" indent="-342900">
              <a:lnSpc>
                <a:spcPct val="130000"/>
              </a:lnSpc>
              <a:spcAft>
                <a:spcPts val="900"/>
              </a:spcAft>
              <a:buSzPct val="100000"/>
              <a:buChar char="✓"/>
            </a:pPr>
            <a:r>
              <a:rPr lang="en-US" sz="1200" dirty="0">
                <a:solidFill>
                  <a:srgbClr val="E4EEF3"/>
                </a:solidFill>
                <a:latin typeface="Calibri" pitchFamily="34" charset="0"/>
                <a:ea typeface="Calibri" pitchFamily="34" charset="-122"/>
                <a:cs typeface="Calibri" pitchFamily="34" charset="-120"/>
              </a:rPr>
              <a:t>Streamlit demonstration dashboard developed</a:t>
            </a:r>
            <a:endParaRPr lang="en-US" sz="1200" dirty="0"/>
          </a:p>
        </p:txBody>
      </p:sp>
      <p:sp>
        <p:nvSpPr>
          <p:cNvPr id="7" name="Shape 5"/>
          <p:cNvSpPr/>
          <p:nvPr/>
        </p:nvSpPr>
        <p:spPr>
          <a:xfrm>
            <a:off x="7452360" y="1600200"/>
            <a:ext cx="4206240" cy="2331720"/>
          </a:xfrm>
          <a:prstGeom prst="roundRect">
            <a:avLst>
              <a:gd name="adj" fmla="val 3529"/>
            </a:avLst>
          </a:prstGeom>
          <a:solidFill>
            <a:srgbClr val="065A82"/>
          </a:solidFill>
          <a:ln/>
        </p:spPr>
      </p:sp>
      <p:sp>
        <p:nvSpPr>
          <p:cNvPr id="8" name="Text 6"/>
          <p:cNvSpPr/>
          <p:nvPr/>
        </p:nvSpPr>
        <p:spPr>
          <a:xfrm>
            <a:off x="7726680" y="1783080"/>
            <a:ext cx="36576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Future Work</a:t>
            </a:r>
            <a:endParaRPr lang="en-US" sz="1350" dirty="0"/>
          </a:p>
        </p:txBody>
      </p:sp>
      <p:sp>
        <p:nvSpPr>
          <p:cNvPr id="9" name="Text 7"/>
          <p:cNvSpPr/>
          <p:nvPr/>
        </p:nvSpPr>
        <p:spPr>
          <a:xfrm>
            <a:off x="7726680" y="2103120"/>
            <a:ext cx="3657600" cy="178308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1150" dirty="0">
                <a:solidFill>
                  <a:srgbClr val="E4EEF3"/>
                </a:solidFill>
                <a:latin typeface="Calibri" pitchFamily="34" charset="0"/>
                <a:ea typeface="Calibri" pitchFamily="34" charset="-122"/>
                <a:cs typeface="Calibri" pitchFamily="34" charset="-120"/>
              </a:rPr>
              <a:t>More faithful reconstruction of original topology</a:t>
            </a:r>
            <a:endParaRPr lang="en-US" sz="1150" dirty="0"/>
          </a:p>
          <a:p>
            <a:pPr marL="342900" indent="-342900">
              <a:lnSpc>
                <a:spcPct val="125000"/>
              </a:lnSpc>
              <a:spcAft>
                <a:spcPts val="600"/>
              </a:spcAft>
              <a:buSzPct val="100000"/>
              <a:buChar char="→"/>
            </a:pPr>
            <a:r>
              <a:rPr lang="en-US" sz="1150" dirty="0">
                <a:solidFill>
                  <a:srgbClr val="E4EEF3"/>
                </a:solidFill>
                <a:latin typeface="Calibri" pitchFamily="34" charset="0"/>
                <a:ea typeface="Calibri" pitchFamily="34" charset="-122"/>
                <a:cs typeface="Calibri" pitchFamily="34" charset="-120"/>
              </a:rPr>
              <a:t>Additional network configurations</a:t>
            </a:r>
            <a:endParaRPr lang="en-US" sz="1150" dirty="0"/>
          </a:p>
          <a:p>
            <a:pPr marL="342900" indent="-342900">
              <a:lnSpc>
                <a:spcPct val="125000"/>
              </a:lnSpc>
              <a:spcAft>
                <a:spcPts val="600"/>
              </a:spcAft>
              <a:buSzPct val="100000"/>
              <a:buChar char="→"/>
            </a:pPr>
            <a:r>
              <a:rPr lang="en-US" sz="1150" dirty="0">
                <a:solidFill>
                  <a:srgbClr val="E4EEF3"/>
                </a:solidFill>
                <a:latin typeface="Calibri" pitchFamily="34" charset="0"/>
                <a:ea typeface="Calibri" pitchFamily="34" charset="-122"/>
                <a:cs typeface="Calibri" pitchFamily="34" charset="-120"/>
              </a:rPr>
              <a:t>More parameter sensitivity studies</a:t>
            </a:r>
            <a:endParaRPr lang="en-US" sz="1150" dirty="0"/>
          </a:p>
          <a:p>
            <a:pPr marL="342900" indent="-342900">
              <a:lnSpc>
                <a:spcPct val="125000"/>
              </a:lnSpc>
              <a:spcAft>
                <a:spcPts val="600"/>
              </a:spcAft>
              <a:buSzPct val="100000"/>
              <a:buChar char="→"/>
            </a:pPr>
            <a:r>
              <a:rPr lang="en-US" sz="1150" dirty="0">
                <a:solidFill>
                  <a:srgbClr val="E4EEF3"/>
                </a:solidFill>
                <a:latin typeface="Calibri" pitchFamily="34" charset="0"/>
                <a:ea typeface="Calibri" pitchFamily="34" charset="-122"/>
                <a:cs typeface="Calibri" pitchFamily="34" charset="-120"/>
              </a:rPr>
              <a:t>Further validation across multiple random seeds</a:t>
            </a:r>
            <a:endParaRPr lang="en-US" sz="1150" dirty="0"/>
          </a:p>
        </p:txBody>
      </p:sp>
      <p:sp>
        <p:nvSpPr>
          <p:cNvPr id="10" name="Shape 8"/>
          <p:cNvSpPr/>
          <p:nvPr/>
        </p:nvSpPr>
        <p:spPr>
          <a:xfrm>
            <a:off x="7452360" y="4114800"/>
            <a:ext cx="4206240" cy="1463040"/>
          </a:xfrm>
          <a:prstGeom prst="roundRect">
            <a:avLst>
              <a:gd name="adj" fmla="val 5625"/>
            </a:avLst>
          </a:prstGeom>
          <a:solidFill>
            <a:srgbClr val="0F3D57"/>
          </a:solidFill>
          <a:ln w="15875">
            <a:solidFill>
              <a:srgbClr val="E8A13A"/>
            </a:solidFill>
            <a:prstDash val="solid"/>
          </a:ln>
        </p:spPr>
      </p:sp>
      <p:sp>
        <p:nvSpPr>
          <p:cNvPr id="11" name="Text 9"/>
          <p:cNvSpPr/>
          <p:nvPr/>
        </p:nvSpPr>
        <p:spPr>
          <a:xfrm>
            <a:off x="7452360" y="4114800"/>
            <a:ext cx="4206240" cy="1463040"/>
          </a:xfrm>
          <a:prstGeom prst="rect">
            <a:avLst/>
          </a:prstGeom>
          <a:noFill/>
          <a:ln/>
        </p:spPr>
        <p:txBody>
          <a:bodyPr wrap="square" lIns="0" tIns="0" rIns="0" bIns="0" rtlCol="0" anchor="ctr"/>
          <a:lstStyle/>
          <a:p>
            <a:pPr algn="ct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a:p>
            <a:pPr algn="ctr" indent="0" marL="0">
              <a:lnSpc>
                <a:spcPct val="120000"/>
              </a:lnSpc>
              <a:buNone/>
            </a:pPr>
            <a:r>
              <a:rPr lang="en-US" sz="2200" b="1" dirty="0">
                <a:solidFill>
                  <a:srgbClr val="FFFFFF"/>
                </a:solidFill>
                <a:latin typeface="Cambria" pitchFamily="34" charset="0"/>
                <a:ea typeface="Cambria" pitchFamily="34" charset="-122"/>
                <a:cs typeface="Cambria" pitchFamily="34" charset="-120"/>
              </a:rPr>
              <a:t>Questions?</a:t>
            </a:r>
            <a:endParaRPr lang="en-US" sz="2200" dirty="0"/>
          </a:p>
        </p:txBody>
      </p:sp>
      <p:sp>
        <p:nvSpPr>
          <p:cNvPr id="12" name="Text 10"/>
          <p:cNvSpPr/>
          <p:nvPr/>
        </p:nvSpPr>
        <p:spPr>
          <a:xfrm>
            <a:off x="457200" y="6528816"/>
            <a:ext cx="8686800" cy="256032"/>
          </a:xfrm>
          <a:prstGeom prst="rect">
            <a:avLst/>
          </a:prstGeom>
          <a:noFill/>
          <a:ln/>
        </p:spPr>
        <p:txBody>
          <a:bodyPr wrap="square" lIns="0" tIns="0" rIns="0" bIns="0" rtlCol="0" anchor="ctr"/>
          <a:lstStyle/>
          <a:p>
            <a:pPr algn="l" indent="0" marL="0">
              <a:buNone/>
            </a:pPr>
            <a:r>
              <a:rPr lang="en-US" sz="900" dirty="0">
                <a:solidFill>
                  <a:srgbClr val="5C7684"/>
                </a:solidFill>
                <a:latin typeface="Calibri" pitchFamily="34" charset="0"/>
                <a:ea typeface="Calibri" pitchFamily="34" charset="-122"/>
                <a:cs typeface="Calibri" pitchFamily="34" charset="-120"/>
              </a:rPr>
              <a:t>M.Tech Reinforcement Learning  •  Q-Learning WSN Routing — Reconstruction &amp; D0 Sensitivity</a:t>
            </a:r>
            <a:endParaRPr lang="en-US" sz="900" dirty="0"/>
          </a:p>
        </p:txBody>
      </p:sp>
      <p:sp>
        <p:nvSpPr>
          <p:cNvPr id="13" name="Text 11"/>
          <p:cNvSpPr/>
          <p:nvPr/>
        </p:nvSpPr>
        <p:spPr>
          <a:xfrm>
            <a:off x="11430000" y="6528816"/>
            <a:ext cx="365760" cy="256032"/>
          </a:xfrm>
          <a:prstGeom prst="rect">
            <a:avLst/>
          </a:prstGeom>
          <a:noFill/>
          <a:ln/>
        </p:spPr>
        <p:txBody>
          <a:bodyPr wrap="square" lIns="0" tIns="0" rIns="0" bIns="0" rtlCol="0" anchor="ctr"/>
          <a:lstStyle/>
          <a:p>
            <a:pPr algn="r" indent="0" marL="0">
              <a:buNone/>
            </a:pPr>
            <a:r>
              <a:rPr lang="en-US" sz="900" dirty="0">
                <a:solidFill>
                  <a:srgbClr val="5C76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2026-08-28T05:06:56Z</dcterms:created>
  <dcterms:modified xsi:type="dcterms:W3CDTF">2026-08-28T05:06:56Z</dcterms:modified>
</cp:coreProperties>
</file>